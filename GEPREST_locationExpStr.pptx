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71" r:id="rId2"/>
    <p:sldId id="317" r:id="rId3"/>
    <p:sldId id="318" r:id="rId4"/>
    <p:sldId id="319" r:id="rId5"/>
    <p:sldId id="320" r:id="rId6"/>
    <p:sldId id="327" r:id="rId7"/>
    <p:sldId id="321" r:id="rId8"/>
  </p:sldIdLst>
  <p:sldSz cx="12192000" cy="6858000"/>
  <p:notesSz cx="6858000" cy="9144000"/>
  <p:defaultTextStyle>
    <a:defPPr>
      <a:defRPr lang="en-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75"/>
    <p:restoredTop sz="94719"/>
  </p:normalViewPr>
  <p:slideViewPr>
    <p:cSldViewPr snapToGrid="0">
      <p:cViewPr varScale="1">
        <p:scale>
          <a:sx n="102" d="100"/>
          <a:sy n="102" d="100"/>
        </p:scale>
        <p:origin x="728"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H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3AC0D7-F85E-A449-9E88-760FA3E39FB2}" type="datetimeFigureOut">
              <a:rPr lang="en-HU" smtClean="0"/>
              <a:t>2026. 02. 13.</a:t>
            </a:fld>
            <a:endParaRPr lang="en-H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H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H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149E45-0145-2042-B0A1-911A722BC091}" type="slidenum">
              <a:rPr lang="en-HU" smtClean="0"/>
              <a:t>‹#›</a:t>
            </a:fld>
            <a:endParaRPr lang="en-HU"/>
          </a:p>
        </p:txBody>
      </p:sp>
    </p:spTree>
    <p:extLst>
      <p:ext uri="{BB962C8B-B14F-4D97-AF65-F5344CB8AC3E}">
        <p14:creationId xmlns:p14="http://schemas.microsoft.com/office/powerpoint/2010/main" val="1059197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73ED5-029F-B1FE-CF51-353DF97DE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F5F6B-D711-3FA6-EFAE-753BAB835EF4}"/>
              </a:ext>
            </a:extLst>
          </p:cNvPr>
          <p:cNvSpPr>
            <a:spLocks noGrp="1" noRot="1" noChangeAspect="1"/>
          </p:cNvSpPr>
          <p:nvPr>
            <p:ph type="sldImg"/>
          </p:nvPr>
        </p:nvSpPr>
        <p:spPr/>
        <p:txBody>
          <a:bodyPr/>
          <a:lstStyle/>
          <a:p>
            <a:endParaRPr lang="en-HU"/>
          </a:p>
        </p:txBody>
      </p:sp>
      <p:sp>
        <p:nvSpPr>
          <p:cNvPr id="3" name="Notes Placeholder 2">
            <a:extLst>
              <a:ext uri="{FF2B5EF4-FFF2-40B4-BE49-F238E27FC236}">
                <a16:creationId xmlns:a16="http://schemas.microsoft.com/office/drawing/2014/main" id="{0C23460C-36B0-FAEE-A719-D372D0B080BC}"/>
              </a:ext>
            </a:extLst>
          </p:cNvPr>
          <p:cNvSpPr>
            <a:spLocks noGrp="1"/>
          </p:cNvSpPr>
          <p:nvPr>
            <p:ph type="body" idx="1"/>
          </p:nvPr>
        </p:nvSpPr>
        <p:spPr/>
        <p:txBody>
          <a:bodyPr/>
          <a:lstStyle/>
          <a:p>
            <a:endParaRPr lang="en-HU"/>
          </a:p>
        </p:txBody>
      </p:sp>
      <p:sp>
        <p:nvSpPr>
          <p:cNvPr id="4" name="Slide Number Placeholder 3">
            <a:extLst>
              <a:ext uri="{FF2B5EF4-FFF2-40B4-BE49-F238E27FC236}">
                <a16:creationId xmlns:a16="http://schemas.microsoft.com/office/drawing/2014/main" id="{0B2C41EF-C6FD-A31F-B6AF-3AB20738E92F}"/>
              </a:ext>
            </a:extLst>
          </p:cNvPr>
          <p:cNvSpPr>
            <a:spLocks noGrp="1"/>
          </p:cNvSpPr>
          <p:nvPr>
            <p:ph type="sldNum" sz="quarter" idx="5"/>
          </p:nvPr>
        </p:nvSpPr>
        <p:spPr/>
        <p:txBody>
          <a:bodyPr/>
          <a:lstStyle/>
          <a:p>
            <a:fld id="{5B504492-3865-3543-A68C-2F736A5E3D0D}" type="slidenum">
              <a:rPr lang="en-HU" smtClean="0"/>
              <a:t>1</a:t>
            </a:fld>
            <a:endParaRPr lang="en-HU"/>
          </a:p>
        </p:txBody>
      </p:sp>
    </p:spTree>
    <p:extLst>
      <p:ext uri="{BB962C8B-B14F-4D97-AF65-F5344CB8AC3E}">
        <p14:creationId xmlns:p14="http://schemas.microsoft.com/office/powerpoint/2010/main" val="675075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CC093-DA14-A330-99B0-4A16D4395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D88BA-F8B0-2373-3960-7292995A9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91DF2-3EAD-E7F2-EC9C-142D5F9AFFB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solidFill>
                <a:srgbClr val="000000"/>
              </a:solidFill>
              <a:effectLst/>
              <a:latin typeface="Helvetica" pitchFamily="2" charset="0"/>
            </a:endParaRPr>
          </a:p>
        </p:txBody>
      </p:sp>
      <p:sp>
        <p:nvSpPr>
          <p:cNvPr id="4" name="Slide Number Placeholder 3">
            <a:extLst>
              <a:ext uri="{FF2B5EF4-FFF2-40B4-BE49-F238E27FC236}">
                <a16:creationId xmlns:a16="http://schemas.microsoft.com/office/drawing/2014/main" id="{DC449255-0CF0-6AC1-6290-1CA64529A37B}"/>
              </a:ext>
            </a:extLst>
          </p:cNvPr>
          <p:cNvSpPr>
            <a:spLocks noGrp="1"/>
          </p:cNvSpPr>
          <p:nvPr>
            <p:ph type="sldNum" sz="quarter" idx="5"/>
          </p:nvPr>
        </p:nvSpPr>
        <p:spPr/>
        <p:txBody>
          <a:bodyPr/>
          <a:lstStyle/>
          <a:p>
            <a:fld id="{79A589AE-A1D8-7F4B-94F8-99DF78129529}" type="slidenum">
              <a:rPr lang="en-HU" smtClean="0"/>
              <a:t>2</a:t>
            </a:fld>
            <a:endParaRPr lang="en-HU"/>
          </a:p>
        </p:txBody>
      </p:sp>
    </p:spTree>
    <p:extLst>
      <p:ext uri="{BB962C8B-B14F-4D97-AF65-F5344CB8AC3E}">
        <p14:creationId xmlns:p14="http://schemas.microsoft.com/office/powerpoint/2010/main" val="3080333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C28C9-63D7-E30D-C06F-97822B82C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AAA11-CB14-51DB-A3DA-92B4965FD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EDB86-1B6E-2BA3-2430-7F7FF59F92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solidFill>
                <a:srgbClr val="000000"/>
              </a:solidFill>
              <a:effectLst/>
              <a:latin typeface="Helvetica" pitchFamily="2" charset="0"/>
            </a:endParaRPr>
          </a:p>
        </p:txBody>
      </p:sp>
      <p:sp>
        <p:nvSpPr>
          <p:cNvPr id="4" name="Slide Number Placeholder 3">
            <a:extLst>
              <a:ext uri="{FF2B5EF4-FFF2-40B4-BE49-F238E27FC236}">
                <a16:creationId xmlns:a16="http://schemas.microsoft.com/office/drawing/2014/main" id="{7277F4BE-59E4-0BA6-A522-892199D0A328}"/>
              </a:ext>
            </a:extLst>
          </p:cNvPr>
          <p:cNvSpPr>
            <a:spLocks noGrp="1"/>
          </p:cNvSpPr>
          <p:nvPr>
            <p:ph type="sldNum" sz="quarter" idx="5"/>
          </p:nvPr>
        </p:nvSpPr>
        <p:spPr/>
        <p:txBody>
          <a:bodyPr/>
          <a:lstStyle/>
          <a:p>
            <a:fld id="{79A589AE-A1D8-7F4B-94F8-99DF78129529}" type="slidenum">
              <a:rPr lang="en-HU" smtClean="0"/>
              <a:t>3</a:t>
            </a:fld>
            <a:endParaRPr lang="en-HU"/>
          </a:p>
        </p:txBody>
      </p:sp>
    </p:spTree>
    <p:extLst>
      <p:ext uri="{BB962C8B-B14F-4D97-AF65-F5344CB8AC3E}">
        <p14:creationId xmlns:p14="http://schemas.microsoft.com/office/powerpoint/2010/main" val="3200918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99BBA-416E-03FF-9E98-9DA278077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D788F-EA8C-D735-F8C3-3014175002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7ED32-7139-685B-0F65-0C1A6CCF48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solidFill>
                <a:srgbClr val="000000"/>
              </a:solidFill>
              <a:effectLst/>
              <a:latin typeface="Helvetica" pitchFamily="2" charset="0"/>
            </a:endParaRPr>
          </a:p>
        </p:txBody>
      </p:sp>
      <p:sp>
        <p:nvSpPr>
          <p:cNvPr id="4" name="Slide Number Placeholder 3">
            <a:extLst>
              <a:ext uri="{FF2B5EF4-FFF2-40B4-BE49-F238E27FC236}">
                <a16:creationId xmlns:a16="http://schemas.microsoft.com/office/drawing/2014/main" id="{06083B48-5283-B1CD-6AC3-1587E1740673}"/>
              </a:ext>
            </a:extLst>
          </p:cNvPr>
          <p:cNvSpPr>
            <a:spLocks noGrp="1"/>
          </p:cNvSpPr>
          <p:nvPr>
            <p:ph type="sldNum" sz="quarter" idx="5"/>
          </p:nvPr>
        </p:nvSpPr>
        <p:spPr/>
        <p:txBody>
          <a:bodyPr/>
          <a:lstStyle/>
          <a:p>
            <a:fld id="{79A589AE-A1D8-7F4B-94F8-99DF78129529}" type="slidenum">
              <a:rPr lang="en-HU" smtClean="0"/>
              <a:t>5</a:t>
            </a:fld>
            <a:endParaRPr lang="en-HU"/>
          </a:p>
        </p:txBody>
      </p:sp>
    </p:spTree>
    <p:extLst>
      <p:ext uri="{BB962C8B-B14F-4D97-AF65-F5344CB8AC3E}">
        <p14:creationId xmlns:p14="http://schemas.microsoft.com/office/powerpoint/2010/main" val="2260938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A696C-72D7-7FD4-4C57-716B5D0BA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BC800-24C2-08AC-4A24-FB6E0BC67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34418-77E1-063B-3F2B-69CD57F28C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solidFill>
                <a:srgbClr val="000000"/>
              </a:solidFill>
              <a:effectLst/>
              <a:latin typeface="Helvetica" pitchFamily="2" charset="0"/>
            </a:endParaRPr>
          </a:p>
        </p:txBody>
      </p:sp>
      <p:sp>
        <p:nvSpPr>
          <p:cNvPr id="4" name="Slide Number Placeholder 3">
            <a:extLst>
              <a:ext uri="{FF2B5EF4-FFF2-40B4-BE49-F238E27FC236}">
                <a16:creationId xmlns:a16="http://schemas.microsoft.com/office/drawing/2014/main" id="{12967B4F-787A-C64F-BF86-38655615FD68}"/>
              </a:ext>
            </a:extLst>
          </p:cNvPr>
          <p:cNvSpPr>
            <a:spLocks noGrp="1"/>
          </p:cNvSpPr>
          <p:nvPr>
            <p:ph type="sldNum" sz="quarter" idx="5"/>
          </p:nvPr>
        </p:nvSpPr>
        <p:spPr/>
        <p:txBody>
          <a:bodyPr/>
          <a:lstStyle/>
          <a:p>
            <a:fld id="{79A589AE-A1D8-7F4B-94F8-99DF78129529}" type="slidenum">
              <a:rPr lang="en-HU" smtClean="0"/>
              <a:t>6</a:t>
            </a:fld>
            <a:endParaRPr lang="en-HU"/>
          </a:p>
        </p:txBody>
      </p:sp>
    </p:spTree>
    <p:extLst>
      <p:ext uri="{BB962C8B-B14F-4D97-AF65-F5344CB8AC3E}">
        <p14:creationId xmlns:p14="http://schemas.microsoft.com/office/powerpoint/2010/main" val="148193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CB815-C4EE-060E-A734-8ABE3EEDE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4B9FB-C00D-8466-C5FF-8846F5F0E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174E6-C108-9139-783B-9DB11FFC60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a:solidFill>
                <a:srgbClr val="000000"/>
              </a:solidFill>
              <a:effectLst/>
              <a:latin typeface="Helvetica" pitchFamily="2" charset="0"/>
            </a:endParaRPr>
          </a:p>
        </p:txBody>
      </p:sp>
      <p:sp>
        <p:nvSpPr>
          <p:cNvPr id="4" name="Slide Number Placeholder 3">
            <a:extLst>
              <a:ext uri="{FF2B5EF4-FFF2-40B4-BE49-F238E27FC236}">
                <a16:creationId xmlns:a16="http://schemas.microsoft.com/office/drawing/2014/main" id="{800D55D1-792A-7506-F63D-C8D0539A09C0}"/>
              </a:ext>
            </a:extLst>
          </p:cNvPr>
          <p:cNvSpPr>
            <a:spLocks noGrp="1"/>
          </p:cNvSpPr>
          <p:nvPr>
            <p:ph type="sldNum" sz="quarter" idx="5"/>
          </p:nvPr>
        </p:nvSpPr>
        <p:spPr/>
        <p:txBody>
          <a:bodyPr/>
          <a:lstStyle/>
          <a:p>
            <a:fld id="{79A589AE-A1D8-7F4B-94F8-99DF78129529}" type="slidenum">
              <a:rPr lang="en-HU" smtClean="0"/>
              <a:t>7</a:t>
            </a:fld>
            <a:endParaRPr lang="en-HU"/>
          </a:p>
        </p:txBody>
      </p:sp>
    </p:spTree>
    <p:extLst>
      <p:ext uri="{BB962C8B-B14F-4D97-AF65-F5344CB8AC3E}">
        <p14:creationId xmlns:p14="http://schemas.microsoft.com/office/powerpoint/2010/main" val="896239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89CF6-09DA-0B1A-8FAF-936E44FCC7B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HU"/>
          </a:p>
        </p:txBody>
      </p:sp>
      <p:sp>
        <p:nvSpPr>
          <p:cNvPr id="3" name="Subtitle 2">
            <a:extLst>
              <a:ext uri="{FF2B5EF4-FFF2-40B4-BE49-F238E27FC236}">
                <a16:creationId xmlns:a16="http://schemas.microsoft.com/office/drawing/2014/main" id="{C6493DCE-216F-6D74-6C5E-01DACE3157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HU"/>
          </a:p>
        </p:txBody>
      </p:sp>
      <p:sp>
        <p:nvSpPr>
          <p:cNvPr id="4" name="Date Placeholder 3">
            <a:extLst>
              <a:ext uri="{FF2B5EF4-FFF2-40B4-BE49-F238E27FC236}">
                <a16:creationId xmlns:a16="http://schemas.microsoft.com/office/drawing/2014/main" id="{00EA64D9-43BD-3E63-5A58-FFCE54B6E656}"/>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5" name="Footer Placeholder 4">
            <a:extLst>
              <a:ext uri="{FF2B5EF4-FFF2-40B4-BE49-F238E27FC236}">
                <a16:creationId xmlns:a16="http://schemas.microsoft.com/office/drawing/2014/main" id="{07A7EA89-C9B2-D0DA-6A41-667028E8921B}"/>
              </a:ext>
            </a:extLst>
          </p:cNvPr>
          <p:cNvSpPr>
            <a:spLocks noGrp="1"/>
          </p:cNvSpPr>
          <p:nvPr>
            <p:ph type="ftr" sz="quarter" idx="11"/>
          </p:nvPr>
        </p:nvSpPr>
        <p:spPr/>
        <p:txBody>
          <a:bodyPr/>
          <a:lstStyle/>
          <a:p>
            <a:endParaRPr lang="en-HU"/>
          </a:p>
        </p:txBody>
      </p:sp>
      <p:sp>
        <p:nvSpPr>
          <p:cNvPr id="6" name="Slide Number Placeholder 5">
            <a:extLst>
              <a:ext uri="{FF2B5EF4-FFF2-40B4-BE49-F238E27FC236}">
                <a16:creationId xmlns:a16="http://schemas.microsoft.com/office/drawing/2014/main" id="{60007317-4909-F2F9-FEFD-6E2B19BB5597}"/>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1742833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22F9A-A4F6-01C7-FEE5-3B3550B80C5E}"/>
              </a:ext>
            </a:extLst>
          </p:cNvPr>
          <p:cNvSpPr>
            <a:spLocks noGrp="1"/>
          </p:cNvSpPr>
          <p:nvPr>
            <p:ph type="title"/>
          </p:nvPr>
        </p:nvSpPr>
        <p:spPr/>
        <p:txBody>
          <a:bodyPr/>
          <a:lstStyle/>
          <a:p>
            <a:r>
              <a:rPr lang="en-GB"/>
              <a:t>Click to edit Master title style</a:t>
            </a:r>
            <a:endParaRPr lang="en-HU"/>
          </a:p>
        </p:txBody>
      </p:sp>
      <p:sp>
        <p:nvSpPr>
          <p:cNvPr id="3" name="Content Placeholder 2">
            <a:extLst>
              <a:ext uri="{FF2B5EF4-FFF2-40B4-BE49-F238E27FC236}">
                <a16:creationId xmlns:a16="http://schemas.microsoft.com/office/drawing/2014/main" id="{1AB462F6-9E5B-5234-44D7-D19DFCFA4BA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4" name="Date Placeholder 3">
            <a:extLst>
              <a:ext uri="{FF2B5EF4-FFF2-40B4-BE49-F238E27FC236}">
                <a16:creationId xmlns:a16="http://schemas.microsoft.com/office/drawing/2014/main" id="{56976F68-77BC-CF8A-5118-CE31E80BD7D2}"/>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5" name="Footer Placeholder 4">
            <a:extLst>
              <a:ext uri="{FF2B5EF4-FFF2-40B4-BE49-F238E27FC236}">
                <a16:creationId xmlns:a16="http://schemas.microsoft.com/office/drawing/2014/main" id="{85419026-4D47-57B1-F454-72A4E97CCE4B}"/>
              </a:ext>
            </a:extLst>
          </p:cNvPr>
          <p:cNvSpPr>
            <a:spLocks noGrp="1"/>
          </p:cNvSpPr>
          <p:nvPr>
            <p:ph type="ftr" sz="quarter" idx="11"/>
          </p:nvPr>
        </p:nvSpPr>
        <p:spPr/>
        <p:txBody>
          <a:bodyPr/>
          <a:lstStyle/>
          <a:p>
            <a:endParaRPr lang="en-HU"/>
          </a:p>
        </p:txBody>
      </p:sp>
      <p:sp>
        <p:nvSpPr>
          <p:cNvPr id="6" name="Slide Number Placeholder 5">
            <a:extLst>
              <a:ext uri="{FF2B5EF4-FFF2-40B4-BE49-F238E27FC236}">
                <a16:creationId xmlns:a16="http://schemas.microsoft.com/office/drawing/2014/main" id="{1CC6D9A2-E411-7CAE-08DC-C5340E83515A}"/>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101489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F4D3-4CE6-AB0A-7CFF-DF3EC51B6E9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HU"/>
          </a:p>
        </p:txBody>
      </p:sp>
      <p:sp>
        <p:nvSpPr>
          <p:cNvPr id="3" name="Text Placeholder 2">
            <a:extLst>
              <a:ext uri="{FF2B5EF4-FFF2-40B4-BE49-F238E27FC236}">
                <a16:creationId xmlns:a16="http://schemas.microsoft.com/office/drawing/2014/main" id="{9F0E7A80-0980-E982-3EF9-469B15FD9C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CFE8036-6899-ACD7-D83C-AA1FFA585A2D}"/>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5" name="Footer Placeholder 4">
            <a:extLst>
              <a:ext uri="{FF2B5EF4-FFF2-40B4-BE49-F238E27FC236}">
                <a16:creationId xmlns:a16="http://schemas.microsoft.com/office/drawing/2014/main" id="{36CC99B7-2DAA-9D80-93B3-4D9A5BD33915}"/>
              </a:ext>
            </a:extLst>
          </p:cNvPr>
          <p:cNvSpPr>
            <a:spLocks noGrp="1"/>
          </p:cNvSpPr>
          <p:nvPr>
            <p:ph type="ftr" sz="quarter" idx="11"/>
          </p:nvPr>
        </p:nvSpPr>
        <p:spPr/>
        <p:txBody>
          <a:bodyPr/>
          <a:lstStyle/>
          <a:p>
            <a:endParaRPr lang="en-HU"/>
          </a:p>
        </p:txBody>
      </p:sp>
      <p:sp>
        <p:nvSpPr>
          <p:cNvPr id="6" name="Slide Number Placeholder 5">
            <a:extLst>
              <a:ext uri="{FF2B5EF4-FFF2-40B4-BE49-F238E27FC236}">
                <a16:creationId xmlns:a16="http://schemas.microsoft.com/office/drawing/2014/main" id="{32C8086A-377F-269E-F957-084424C19C29}"/>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2648466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206A5-1FA0-DDF9-35B6-F5AF6627C7A3}"/>
              </a:ext>
            </a:extLst>
          </p:cNvPr>
          <p:cNvSpPr>
            <a:spLocks noGrp="1"/>
          </p:cNvSpPr>
          <p:nvPr>
            <p:ph type="title"/>
          </p:nvPr>
        </p:nvSpPr>
        <p:spPr/>
        <p:txBody>
          <a:bodyPr/>
          <a:lstStyle/>
          <a:p>
            <a:r>
              <a:rPr lang="en-GB"/>
              <a:t>Click to edit Master title style</a:t>
            </a:r>
            <a:endParaRPr lang="en-HU"/>
          </a:p>
        </p:txBody>
      </p:sp>
      <p:sp>
        <p:nvSpPr>
          <p:cNvPr id="3" name="Content Placeholder 2">
            <a:extLst>
              <a:ext uri="{FF2B5EF4-FFF2-40B4-BE49-F238E27FC236}">
                <a16:creationId xmlns:a16="http://schemas.microsoft.com/office/drawing/2014/main" id="{6828E49A-7880-474B-7EAF-C7A8A08CCF8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4" name="Content Placeholder 3">
            <a:extLst>
              <a:ext uri="{FF2B5EF4-FFF2-40B4-BE49-F238E27FC236}">
                <a16:creationId xmlns:a16="http://schemas.microsoft.com/office/drawing/2014/main" id="{E88921B0-DE36-A1E0-76C8-7E683576614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5" name="Date Placeholder 4">
            <a:extLst>
              <a:ext uri="{FF2B5EF4-FFF2-40B4-BE49-F238E27FC236}">
                <a16:creationId xmlns:a16="http://schemas.microsoft.com/office/drawing/2014/main" id="{BEB0D5B5-E5EF-48E4-A929-C9258D1FB295}"/>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6" name="Footer Placeholder 5">
            <a:extLst>
              <a:ext uri="{FF2B5EF4-FFF2-40B4-BE49-F238E27FC236}">
                <a16:creationId xmlns:a16="http://schemas.microsoft.com/office/drawing/2014/main" id="{E3ADBA65-C0AD-5195-0230-65591CB9CE8D}"/>
              </a:ext>
            </a:extLst>
          </p:cNvPr>
          <p:cNvSpPr>
            <a:spLocks noGrp="1"/>
          </p:cNvSpPr>
          <p:nvPr>
            <p:ph type="ftr" sz="quarter" idx="11"/>
          </p:nvPr>
        </p:nvSpPr>
        <p:spPr/>
        <p:txBody>
          <a:bodyPr/>
          <a:lstStyle/>
          <a:p>
            <a:endParaRPr lang="en-HU"/>
          </a:p>
        </p:txBody>
      </p:sp>
      <p:sp>
        <p:nvSpPr>
          <p:cNvPr id="7" name="Slide Number Placeholder 6">
            <a:extLst>
              <a:ext uri="{FF2B5EF4-FFF2-40B4-BE49-F238E27FC236}">
                <a16:creationId xmlns:a16="http://schemas.microsoft.com/office/drawing/2014/main" id="{23903C5B-5F03-72ED-D107-F965A58BF974}"/>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1108715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1D421-C3A1-F477-3442-B49777BE79F4}"/>
              </a:ext>
            </a:extLst>
          </p:cNvPr>
          <p:cNvSpPr>
            <a:spLocks noGrp="1"/>
          </p:cNvSpPr>
          <p:nvPr>
            <p:ph type="title"/>
          </p:nvPr>
        </p:nvSpPr>
        <p:spPr>
          <a:xfrm>
            <a:off x="839788" y="365125"/>
            <a:ext cx="10515600" cy="1325563"/>
          </a:xfrm>
        </p:spPr>
        <p:txBody>
          <a:bodyPr/>
          <a:lstStyle/>
          <a:p>
            <a:r>
              <a:rPr lang="en-GB"/>
              <a:t>Click to edit Master title style</a:t>
            </a:r>
            <a:endParaRPr lang="en-HU"/>
          </a:p>
        </p:txBody>
      </p:sp>
      <p:sp>
        <p:nvSpPr>
          <p:cNvPr id="3" name="Text Placeholder 2">
            <a:extLst>
              <a:ext uri="{FF2B5EF4-FFF2-40B4-BE49-F238E27FC236}">
                <a16:creationId xmlns:a16="http://schemas.microsoft.com/office/drawing/2014/main" id="{0530978B-F1C4-578E-E5D4-96119A23A8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3DEED0C-C1A6-67CF-61E5-781E5BC9A5C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5" name="Text Placeholder 4">
            <a:extLst>
              <a:ext uri="{FF2B5EF4-FFF2-40B4-BE49-F238E27FC236}">
                <a16:creationId xmlns:a16="http://schemas.microsoft.com/office/drawing/2014/main" id="{B39E53B2-9810-D780-FCD0-75039C9155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987EC8B-3894-BABF-8D97-FB941A7307A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7" name="Date Placeholder 6">
            <a:extLst>
              <a:ext uri="{FF2B5EF4-FFF2-40B4-BE49-F238E27FC236}">
                <a16:creationId xmlns:a16="http://schemas.microsoft.com/office/drawing/2014/main" id="{DC061DAF-DCD0-E217-7C25-C615326B4F66}"/>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8" name="Footer Placeholder 7">
            <a:extLst>
              <a:ext uri="{FF2B5EF4-FFF2-40B4-BE49-F238E27FC236}">
                <a16:creationId xmlns:a16="http://schemas.microsoft.com/office/drawing/2014/main" id="{909B066C-BFFF-FD3B-2203-F9362B3EA557}"/>
              </a:ext>
            </a:extLst>
          </p:cNvPr>
          <p:cNvSpPr>
            <a:spLocks noGrp="1"/>
          </p:cNvSpPr>
          <p:nvPr>
            <p:ph type="ftr" sz="quarter" idx="11"/>
          </p:nvPr>
        </p:nvSpPr>
        <p:spPr/>
        <p:txBody>
          <a:bodyPr/>
          <a:lstStyle/>
          <a:p>
            <a:endParaRPr lang="en-HU"/>
          </a:p>
        </p:txBody>
      </p:sp>
      <p:sp>
        <p:nvSpPr>
          <p:cNvPr id="9" name="Slide Number Placeholder 8">
            <a:extLst>
              <a:ext uri="{FF2B5EF4-FFF2-40B4-BE49-F238E27FC236}">
                <a16:creationId xmlns:a16="http://schemas.microsoft.com/office/drawing/2014/main" id="{D46CC07A-6026-672A-96A2-CFF2C87F6995}"/>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973823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3C99-532A-771F-517C-F9FFC969D3A1}"/>
              </a:ext>
            </a:extLst>
          </p:cNvPr>
          <p:cNvSpPr>
            <a:spLocks noGrp="1"/>
          </p:cNvSpPr>
          <p:nvPr>
            <p:ph type="title"/>
          </p:nvPr>
        </p:nvSpPr>
        <p:spPr/>
        <p:txBody>
          <a:bodyPr/>
          <a:lstStyle/>
          <a:p>
            <a:r>
              <a:rPr lang="en-GB"/>
              <a:t>Click to edit Master title style</a:t>
            </a:r>
            <a:endParaRPr lang="en-HU"/>
          </a:p>
        </p:txBody>
      </p:sp>
      <p:sp>
        <p:nvSpPr>
          <p:cNvPr id="3" name="Date Placeholder 2">
            <a:extLst>
              <a:ext uri="{FF2B5EF4-FFF2-40B4-BE49-F238E27FC236}">
                <a16:creationId xmlns:a16="http://schemas.microsoft.com/office/drawing/2014/main" id="{39908DC9-9DCD-7161-2CA8-6DAC2627EB50}"/>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4" name="Footer Placeholder 3">
            <a:extLst>
              <a:ext uri="{FF2B5EF4-FFF2-40B4-BE49-F238E27FC236}">
                <a16:creationId xmlns:a16="http://schemas.microsoft.com/office/drawing/2014/main" id="{DA7EB13A-F087-461C-2CAB-95FDFF2A71BF}"/>
              </a:ext>
            </a:extLst>
          </p:cNvPr>
          <p:cNvSpPr>
            <a:spLocks noGrp="1"/>
          </p:cNvSpPr>
          <p:nvPr>
            <p:ph type="ftr" sz="quarter" idx="11"/>
          </p:nvPr>
        </p:nvSpPr>
        <p:spPr/>
        <p:txBody>
          <a:bodyPr/>
          <a:lstStyle/>
          <a:p>
            <a:endParaRPr lang="en-HU"/>
          </a:p>
        </p:txBody>
      </p:sp>
      <p:sp>
        <p:nvSpPr>
          <p:cNvPr id="5" name="Slide Number Placeholder 4">
            <a:extLst>
              <a:ext uri="{FF2B5EF4-FFF2-40B4-BE49-F238E27FC236}">
                <a16:creationId xmlns:a16="http://schemas.microsoft.com/office/drawing/2014/main" id="{92578459-7A26-237D-25D0-52758AB28094}"/>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782573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137EEE-6CA6-BC97-DB9B-BD5E6148F460}"/>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3" name="Footer Placeholder 2">
            <a:extLst>
              <a:ext uri="{FF2B5EF4-FFF2-40B4-BE49-F238E27FC236}">
                <a16:creationId xmlns:a16="http://schemas.microsoft.com/office/drawing/2014/main" id="{B2C5A23B-056A-1C91-93CF-19C0213935BC}"/>
              </a:ext>
            </a:extLst>
          </p:cNvPr>
          <p:cNvSpPr>
            <a:spLocks noGrp="1"/>
          </p:cNvSpPr>
          <p:nvPr>
            <p:ph type="ftr" sz="quarter" idx="11"/>
          </p:nvPr>
        </p:nvSpPr>
        <p:spPr/>
        <p:txBody>
          <a:bodyPr/>
          <a:lstStyle/>
          <a:p>
            <a:endParaRPr lang="en-HU"/>
          </a:p>
        </p:txBody>
      </p:sp>
      <p:sp>
        <p:nvSpPr>
          <p:cNvPr id="4" name="Slide Number Placeholder 3">
            <a:extLst>
              <a:ext uri="{FF2B5EF4-FFF2-40B4-BE49-F238E27FC236}">
                <a16:creationId xmlns:a16="http://schemas.microsoft.com/office/drawing/2014/main" id="{32FFD20E-88D4-B63F-4B10-A44EF95D241A}"/>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3571508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08242-445C-750A-B78A-9953826D893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HU"/>
          </a:p>
        </p:txBody>
      </p:sp>
      <p:sp>
        <p:nvSpPr>
          <p:cNvPr id="3" name="Content Placeholder 2">
            <a:extLst>
              <a:ext uri="{FF2B5EF4-FFF2-40B4-BE49-F238E27FC236}">
                <a16:creationId xmlns:a16="http://schemas.microsoft.com/office/drawing/2014/main" id="{043C6B23-102D-1BF0-6967-A7EBBC0C8B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4" name="Text Placeholder 3">
            <a:extLst>
              <a:ext uri="{FF2B5EF4-FFF2-40B4-BE49-F238E27FC236}">
                <a16:creationId xmlns:a16="http://schemas.microsoft.com/office/drawing/2014/main" id="{30146173-1951-10DB-539C-DC1B08DF0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59AB5F-674A-4B78-C72A-A2BF51E071C2}"/>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6" name="Footer Placeholder 5">
            <a:extLst>
              <a:ext uri="{FF2B5EF4-FFF2-40B4-BE49-F238E27FC236}">
                <a16:creationId xmlns:a16="http://schemas.microsoft.com/office/drawing/2014/main" id="{52E17621-847F-EC74-B771-2016FEFB7204}"/>
              </a:ext>
            </a:extLst>
          </p:cNvPr>
          <p:cNvSpPr>
            <a:spLocks noGrp="1"/>
          </p:cNvSpPr>
          <p:nvPr>
            <p:ph type="ftr" sz="quarter" idx="11"/>
          </p:nvPr>
        </p:nvSpPr>
        <p:spPr/>
        <p:txBody>
          <a:bodyPr/>
          <a:lstStyle/>
          <a:p>
            <a:endParaRPr lang="en-HU"/>
          </a:p>
        </p:txBody>
      </p:sp>
      <p:sp>
        <p:nvSpPr>
          <p:cNvPr id="7" name="Slide Number Placeholder 6">
            <a:extLst>
              <a:ext uri="{FF2B5EF4-FFF2-40B4-BE49-F238E27FC236}">
                <a16:creationId xmlns:a16="http://schemas.microsoft.com/office/drawing/2014/main" id="{80DA9267-9A4F-DADD-D837-D1D4A5013D5F}"/>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254002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6253A-B271-DB5E-A320-7E91D03E395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HU"/>
          </a:p>
        </p:txBody>
      </p:sp>
      <p:sp>
        <p:nvSpPr>
          <p:cNvPr id="3" name="Picture Placeholder 2">
            <a:extLst>
              <a:ext uri="{FF2B5EF4-FFF2-40B4-BE49-F238E27FC236}">
                <a16:creationId xmlns:a16="http://schemas.microsoft.com/office/drawing/2014/main" id="{50C80A32-5FF5-B925-7F6D-70E7A87543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HU"/>
          </a:p>
        </p:txBody>
      </p:sp>
      <p:sp>
        <p:nvSpPr>
          <p:cNvPr id="4" name="Text Placeholder 3">
            <a:extLst>
              <a:ext uri="{FF2B5EF4-FFF2-40B4-BE49-F238E27FC236}">
                <a16:creationId xmlns:a16="http://schemas.microsoft.com/office/drawing/2014/main" id="{B1DE86C0-77F3-5C00-B412-9F716A51F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218FBE-16ED-82E6-52B3-40563FB4AB72}"/>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6" name="Footer Placeholder 5">
            <a:extLst>
              <a:ext uri="{FF2B5EF4-FFF2-40B4-BE49-F238E27FC236}">
                <a16:creationId xmlns:a16="http://schemas.microsoft.com/office/drawing/2014/main" id="{96CF136B-5EF4-5D63-4923-00F287ADA9EC}"/>
              </a:ext>
            </a:extLst>
          </p:cNvPr>
          <p:cNvSpPr>
            <a:spLocks noGrp="1"/>
          </p:cNvSpPr>
          <p:nvPr>
            <p:ph type="ftr" sz="quarter" idx="11"/>
          </p:nvPr>
        </p:nvSpPr>
        <p:spPr/>
        <p:txBody>
          <a:bodyPr/>
          <a:lstStyle/>
          <a:p>
            <a:endParaRPr lang="en-HU"/>
          </a:p>
        </p:txBody>
      </p:sp>
      <p:sp>
        <p:nvSpPr>
          <p:cNvPr id="7" name="Slide Number Placeholder 6">
            <a:extLst>
              <a:ext uri="{FF2B5EF4-FFF2-40B4-BE49-F238E27FC236}">
                <a16:creationId xmlns:a16="http://schemas.microsoft.com/office/drawing/2014/main" id="{20A66966-AB3E-39DC-EAF2-E16D296D8D96}"/>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164996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5DFB-EC27-7FC1-AF3A-A1AC3B157EC2}"/>
              </a:ext>
            </a:extLst>
          </p:cNvPr>
          <p:cNvSpPr>
            <a:spLocks noGrp="1"/>
          </p:cNvSpPr>
          <p:nvPr>
            <p:ph type="title"/>
          </p:nvPr>
        </p:nvSpPr>
        <p:spPr/>
        <p:txBody>
          <a:bodyPr/>
          <a:lstStyle/>
          <a:p>
            <a:r>
              <a:rPr lang="en-GB"/>
              <a:t>Click to edit Master title style</a:t>
            </a:r>
            <a:endParaRPr lang="en-HU"/>
          </a:p>
        </p:txBody>
      </p:sp>
      <p:sp>
        <p:nvSpPr>
          <p:cNvPr id="3" name="Vertical Text Placeholder 2">
            <a:extLst>
              <a:ext uri="{FF2B5EF4-FFF2-40B4-BE49-F238E27FC236}">
                <a16:creationId xmlns:a16="http://schemas.microsoft.com/office/drawing/2014/main" id="{D52D0084-0857-7F58-7440-85884E92F02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4" name="Date Placeholder 3">
            <a:extLst>
              <a:ext uri="{FF2B5EF4-FFF2-40B4-BE49-F238E27FC236}">
                <a16:creationId xmlns:a16="http://schemas.microsoft.com/office/drawing/2014/main" id="{CB74479E-427B-F4CD-3076-54361FA81FFC}"/>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5" name="Footer Placeholder 4">
            <a:extLst>
              <a:ext uri="{FF2B5EF4-FFF2-40B4-BE49-F238E27FC236}">
                <a16:creationId xmlns:a16="http://schemas.microsoft.com/office/drawing/2014/main" id="{D042E249-D664-8F52-8DAD-45B75F592297}"/>
              </a:ext>
            </a:extLst>
          </p:cNvPr>
          <p:cNvSpPr>
            <a:spLocks noGrp="1"/>
          </p:cNvSpPr>
          <p:nvPr>
            <p:ph type="ftr" sz="quarter" idx="11"/>
          </p:nvPr>
        </p:nvSpPr>
        <p:spPr/>
        <p:txBody>
          <a:bodyPr/>
          <a:lstStyle/>
          <a:p>
            <a:endParaRPr lang="en-HU"/>
          </a:p>
        </p:txBody>
      </p:sp>
      <p:sp>
        <p:nvSpPr>
          <p:cNvPr id="6" name="Slide Number Placeholder 5">
            <a:extLst>
              <a:ext uri="{FF2B5EF4-FFF2-40B4-BE49-F238E27FC236}">
                <a16:creationId xmlns:a16="http://schemas.microsoft.com/office/drawing/2014/main" id="{82F9DB4F-C314-D70F-4DDB-7F3449444A40}"/>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3444172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1B4EFF-2777-5BC6-A469-0911080C16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HU"/>
          </a:p>
        </p:txBody>
      </p:sp>
      <p:sp>
        <p:nvSpPr>
          <p:cNvPr id="3" name="Vertical Text Placeholder 2">
            <a:extLst>
              <a:ext uri="{FF2B5EF4-FFF2-40B4-BE49-F238E27FC236}">
                <a16:creationId xmlns:a16="http://schemas.microsoft.com/office/drawing/2014/main" id="{43913821-B113-8730-F82C-20ACDA1B18C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4" name="Date Placeholder 3">
            <a:extLst>
              <a:ext uri="{FF2B5EF4-FFF2-40B4-BE49-F238E27FC236}">
                <a16:creationId xmlns:a16="http://schemas.microsoft.com/office/drawing/2014/main" id="{7D9055C4-1880-E8C7-D2AE-440186FA64B7}"/>
              </a:ext>
            </a:extLst>
          </p:cNvPr>
          <p:cNvSpPr>
            <a:spLocks noGrp="1"/>
          </p:cNvSpPr>
          <p:nvPr>
            <p:ph type="dt" sz="half" idx="10"/>
          </p:nvPr>
        </p:nvSpPr>
        <p:spPr/>
        <p:txBody>
          <a:bodyPr/>
          <a:lstStyle/>
          <a:p>
            <a:fld id="{FD07FD40-3D07-B949-AFB2-F3626702F1A8}" type="datetimeFigureOut">
              <a:rPr lang="en-HU" smtClean="0"/>
              <a:t>2026. 02. 13.</a:t>
            </a:fld>
            <a:endParaRPr lang="en-HU"/>
          </a:p>
        </p:txBody>
      </p:sp>
      <p:sp>
        <p:nvSpPr>
          <p:cNvPr id="5" name="Footer Placeholder 4">
            <a:extLst>
              <a:ext uri="{FF2B5EF4-FFF2-40B4-BE49-F238E27FC236}">
                <a16:creationId xmlns:a16="http://schemas.microsoft.com/office/drawing/2014/main" id="{BB9687FA-5FB6-D28F-AE85-23C653448BC4}"/>
              </a:ext>
            </a:extLst>
          </p:cNvPr>
          <p:cNvSpPr>
            <a:spLocks noGrp="1"/>
          </p:cNvSpPr>
          <p:nvPr>
            <p:ph type="ftr" sz="quarter" idx="11"/>
          </p:nvPr>
        </p:nvSpPr>
        <p:spPr/>
        <p:txBody>
          <a:bodyPr/>
          <a:lstStyle/>
          <a:p>
            <a:endParaRPr lang="en-HU"/>
          </a:p>
        </p:txBody>
      </p:sp>
      <p:sp>
        <p:nvSpPr>
          <p:cNvPr id="6" name="Slide Number Placeholder 5">
            <a:extLst>
              <a:ext uri="{FF2B5EF4-FFF2-40B4-BE49-F238E27FC236}">
                <a16:creationId xmlns:a16="http://schemas.microsoft.com/office/drawing/2014/main" id="{3C9C831A-7590-34C9-56CB-9AC57A351C5F}"/>
              </a:ext>
            </a:extLst>
          </p:cNvPr>
          <p:cNvSpPr>
            <a:spLocks noGrp="1"/>
          </p:cNvSpPr>
          <p:nvPr>
            <p:ph type="sldNum" sz="quarter" idx="12"/>
          </p:nvPr>
        </p:nvSpPr>
        <p:spPr/>
        <p:txBody>
          <a:bodyPr/>
          <a:lstStyle/>
          <a:p>
            <a:fld id="{1E54D3EE-6467-7F4A-8BE7-3CCEF2023AD4}" type="slidenum">
              <a:rPr lang="en-HU" smtClean="0"/>
              <a:t>‹#›</a:t>
            </a:fld>
            <a:endParaRPr lang="en-HU"/>
          </a:p>
        </p:txBody>
      </p:sp>
    </p:spTree>
    <p:extLst>
      <p:ext uri="{BB962C8B-B14F-4D97-AF65-F5344CB8AC3E}">
        <p14:creationId xmlns:p14="http://schemas.microsoft.com/office/powerpoint/2010/main" val="3273612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25869-3835-8ABE-A67A-CC14CD472D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HU"/>
          </a:p>
        </p:txBody>
      </p:sp>
      <p:sp>
        <p:nvSpPr>
          <p:cNvPr id="3" name="Text Placeholder 2">
            <a:extLst>
              <a:ext uri="{FF2B5EF4-FFF2-40B4-BE49-F238E27FC236}">
                <a16:creationId xmlns:a16="http://schemas.microsoft.com/office/drawing/2014/main" id="{4C196254-FA8C-3F25-E942-CB4BA7B30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HU"/>
          </a:p>
        </p:txBody>
      </p:sp>
      <p:sp>
        <p:nvSpPr>
          <p:cNvPr id="4" name="Date Placeholder 3">
            <a:extLst>
              <a:ext uri="{FF2B5EF4-FFF2-40B4-BE49-F238E27FC236}">
                <a16:creationId xmlns:a16="http://schemas.microsoft.com/office/drawing/2014/main" id="{0239128E-ED52-43C2-F2AB-C9E0818523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07FD40-3D07-B949-AFB2-F3626702F1A8}" type="datetimeFigureOut">
              <a:rPr lang="en-HU" smtClean="0"/>
              <a:t>2026. 02. 13.</a:t>
            </a:fld>
            <a:endParaRPr lang="en-HU"/>
          </a:p>
        </p:txBody>
      </p:sp>
      <p:sp>
        <p:nvSpPr>
          <p:cNvPr id="5" name="Footer Placeholder 4">
            <a:extLst>
              <a:ext uri="{FF2B5EF4-FFF2-40B4-BE49-F238E27FC236}">
                <a16:creationId xmlns:a16="http://schemas.microsoft.com/office/drawing/2014/main" id="{2A9CBFD8-025D-50CC-46CE-81CD458D8A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HU"/>
          </a:p>
        </p:txBody>
      </p:sp>
      <p:sp>
        <p:nvSpPr>
          <p:cNvPr id="6" name="Slide Number Placeholder 5">
            <a:extLst>
              <a:ext uri="{FF2B5EF4-FFF2-40B4-BE49-F238E27FC236}">
                <a16:creationId xmlns:a16="http://schemas.microsoft.com/office/drawing/2014/main" id="{4E453EDD-9784-58CB-02E7-B9B4ACD152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54D3EE-6467-7F4A-8BE7-3CCEF2023AD4}" type="slidenum">
              <a:rPr lang="en-HU" smtClean="0"/>
              <a:t>‹#›</a:t>
            </a:fld>
            <a:endParaRPr lang="en-HU"/>
          </a:p>
        </p:txBody>
      </p:sp>
    </p:spTree>
    <p:extLst>
      <p:ext uri="{BB962C8B-B14F-4D97-AF65-F5344CB8AC3E}">
        <p14:creationId xmlns:p14="http://schemas.microsoft.com/office/powerpoint/2010/main" val="125823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hyperlink" Target="https://ceuedu-my.sharepoint.com/:u:/g/personal/garamil_ceu_edu/IQC7T6eujqJpQbRXgO1yRi99ARsMHVhpTzHJ0iibbtVh3zA?e=VwuUFQ" TargetMode="External"/><Relationship Id="rId5" Type="http://schemas.openxmlformats.org/officeDocument/2006/relationships/hyperlink" Target="https://run.pavlovia.org/Linda_Garami/sensory-bias-3-dur/"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E8547-EA36-ACB3-DA61-64E012175B5D}"/>
            </a:ext>
          </a:extLst>
        </p:cNvPr>
        <p:cNvGrpSpPr/>
        <p:nvPr/>
      </p:nvGrpSpPr>
      <p:grpSpPr>
        <a:xfrm>
          <a:off x="0" y="0"/>
          <a:ext cx="0" cy="0"/>
          <a:chOff x="0" y="0"/>
          <a:chExt cx="0" cy="0"/>
        </a:xfrm>
      </p:grpSpPr>
      <p:pic>
        <p:nvPicPr>
          <p:cNvPr id="2" name="Picture 1" descr="A blue background with white text&#10;&#10;AI-generated content may be incorrect.">
            <a:extLst>
              <a:ext uri="{FF2B5EF4-FFF2-40B4-BE49-F238E27FC236}">
                <a16:creationId xmlns:a16="http://schemas.microsoft.com/office/drawing/2014/main" id="{3606FDF5-0682-0503-1AEE-4B1F82F67DDD}"/>
              </a:ext>
            </a:extLst>
          </p:cNvPr>
          <p:cNvPicPr>
            <a:picLocks noChangeAspect="1"/>
          </p:cNvPicPr>
          <p:nvPr/>
        </p:nvPicPr>
        <p:blipFill>
          <a:blip r:embed="rId3"/>
          <a:srcRect r="50255"/>
          <a:stretch>
            <a:fillRect/>
          </a:stretch>
        </p:blipFill>
        <p:spPr>
          <a:xfrm>
            <a:off x="-62582" y="-78661"/>
            <a:ext cx="12281563" cy="7016175"/>
          </a:xfrm>
          <a:prstGeom prst="rect">
            <a:avLst/>
          </a:prstGeom>
        </p:spPr>
      </p:pic>
      <p:pic>
        <p:nvPicPr>
          <p:cNvPr id="13" name="Picture 12" descr="A blue background with white text&#10;&#10;AI-generated content may be incorrect.">
            <a:extLst>
              <a:ext uri="{FF2B5EF4-FFF2-40B4-BE49-F238E27FC236}">
                <a16:creationId xmlns:a16="http://schemas.microsoft.com/office/drawing/2014/main" id="{43BA724C-D186-0CF5-7FFE-ED642387E8C6}"/>
              </a:ext>
            </a:extLst>
          </p:cNvPr>
          <p:cNvPicPr>
            <a:picLocks noChangeAspect="1"/>
          </p:cNvPicPr>
          <p:nvPr/>
        </p:nvPicPr>
        <p:blipFill>
          <a:blip r:embed="rId3"/>
          <a:srcRect l="24722" r="50255"/>
          <a:stretch>
            <a:fillRect/>
          </a:stretch>
        </p:blipFill>
        <p:spPr>
          <a:xfrm>
            <a:off x="-60127" y="-79088"/>
            <a:ext cx="6177952" cy="7016175"/>
          </a:xfrm>
          <a:prstGeom prst="rect">
            <a:avLst/>
          </a:prstGeom>
        </p:spPr>
      </p:pic>
      <p:sp>
        <p:nvSpPr>
          <p:cNvPr id="4" name="TextBox 3">
            <a:extLst>
              <a:ext uri="{FF2B5EF4-FFF2-40B4-BE49-F238E27FC236}">
                <a16:creationId xmlns:a16="http://schemas.microsoft.com/office/drawing/2014/main" id="{77754750-3A52-6632-7F54-60F55AE49BAD}"/>
              </a:ext>
            </a:extLst>
          </p:cNvPr>
          <p:cNvSpPr txBox="1"/>
          <p:nvPr/>
        </p:nvSpPr>
        <p:spPr>
          <a:xfrm>
            <a:off x="9558687" y="5316600"/>
            <a:ext cx="2459328" cy="830997"/>
          </a:xfrm>
          <a:prstGeom prst="rect">
            <a:avLst/>
          </a:prstGeom>
          <a:noFill/>
        </p:spPr>
        <p:txBody>
          <a:bodyPr wrap="none" rtlCol="0">
            <a:spAutoFit/>
          </a:bodyPr>
          <a:lstStyle/>
          <a:p>
            <a:r>
              <a:rPr lang="en-US" sz="3600" spc="300" noProof="1">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t>VisionLab</a:t>
            </a:r>
          </a:p>
          <a:p>
            <a:r>
              <a:rPr lang="en-US" sz="1200" noProof="1">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t>Center for Cognitive Computation</a:t>
            </a:r>
          </a:p>
        </p:txBody>
      </p:sp>
      <p:sp>
        <p:nvSpPr>
          <p:cNvPr id="6" name="TextBox 5">
            <a:extLst>
              <a:ext uri="{FF2B5EF4-FFF2-40B4-BE49-F238E27FC236}">
                <a16:creationId xmlns:a16="http://schemas.microsoft.com/office/drawing/2014/main" id="{8EAA22E7-24EF-BC9D-3C1A-D218A66D2BD9}"/>
              </a:ext>
            </a:extLst>
          </p:cNvPr>
          <p:cNvSpPr txBox="1"/>
          <p:nvPr/>
        </p:nvSpPr>
        <p:spPr>
          <a:xfrm>
            <a:off x="490654" y="933426"/>
            <a:ext cx="11285034" cy="2031325"/>
          </a:xfrm>
          <a:prstGeom prst="rect">
            <a:avLst/>
          </a:prstGeom>
          <a:noFill/>
        </p:spPr>
        <p:txBody>
          <a:bodyPr wrap="square" rtlCol="0">
            <a:spAutoFit/>
          </a:bodyPr>
          <a:lstStyle/>
          <a:p>
            <a:pPr algn="ctr"/>
            <a:r>
              <a:rPr lang="en-US" sz="5400" b="1" noProof="1">
                <a:solidFill>
                  <a:schemeClr val="bg1">
                    <a:lumMod val="95000"/>
                  </a:schemeClr>
                </a:solidFill>
                <a:latin typeface="Open Sans ExtraBold" pitchFamily="2" charset="0"/>
                <a:ea typeface="Open Sans ExtraBold" pitchFamily="2" charset="0"/>
                <a:cs typeface="Open Sans ExtraBold" pitchFamily="2" charset="0"/>
              </a:rPr>
              <a:t>GEPREST</a:t>
            </a:r>
          </a:p>
          <a:p>
            <a:pPr algn="ctr"/>
            <a:endParaRPr lang="en-US" sz="3600" noProof="1">
              <a:solidFill>
                <a:schemeClr val="bg1">
                  <a:lumMod val="95000"/>
                </a:schemeClr>
              </a:solidFill>
              <a:latin typeface="Open Sans Light" pitchFamily="2" charset="0"/>
              <a:ea typeface="Open Sans Light" pitchFamily="2" charset="0"/>
              <a:cs typeface="Open Sans Light" pitchFamily="2" charset="0"/>
            </a:endParaRPr>
          </a:p>
          <a:p>
            <a:pPr algn="ctr"/>
            <a:r>
              <a:rPr lang="en-US" sz="3600" noProof="1">
                <a:solidFill>
                  <a:schemeClr val="bg1">
                    <a:lumMod val="95000"/>
                  </a:schemeClr>
                </a:solidFill>
                <a:latin typeface="Open Sans Light" pitchFamily="2" charset="0"/>
                <a:ea typeface="Open Sans Light" pitchFamily="2" charset="0"/>
                <a:cs typeface="Open Sans Light" pitchFamily="2" charset="0"/>
              </a:rPr>
              <a:t>Experiment 1/b: location</a:t>
            </a:r>
            <a:endParaRPr lang="en-US" sz="2800" noProof="1">
              <a:solidFill>
                <a:schemeClr val="bg1">
                  <a:lumMod val="95000"/>
                </a:schemeClr>
              </a:solidFill>
              <a:latin typeface="Open Sans Light" pitchFamily="2" charset="0"/>
              <a:ea typeface="Open Sans Light" pitchFamily="2" charset="0"/>
              <a:cs typeface="Open Sans Light" pitchFamily="2" charset="0"/>
            </a:endParaRPr>
          </a:p>
        </p:txBody>
      </p:sp>
      <p:sp>
        <p:nvSpPr>
          <p:cNvPr id="9" name="TextBox 8">
            <a:extLst>
              <a:ext uri="{FF2B5EF4-FFF2-40B4-BE49-F238E27FC236}">
                <a16:creationId xmlns:a16="http://schemas.microsoft.com/office/drawing/2014/main" id="{E5718B6A-6CFC-3009-1DB2-2B45509CCA5E}"/>
              </a:ext>
            </a:extLst>
          </p:cNvPr>
          <p:cNvSpPr txBox="1"/>
          <p:nvPr/>
        </p:nvSpPr>
        <p:spPr>
          <a:xfrm>
            <a:off x="3028850" y="6247977"/>
            <a:ext cx="6208642" cy="646331"/>
          </a:xfrm>
          <a:prstGeom prst="rect">
            <a:avLst/>
          </a:prstGeom>
          <a:noFill/>
        </p:spPr>
        <p:txBody>
          <a:bodyPr wrap="square">
            <a:spAutoFit/>
          </a:bodyPr>
          <a:lstStyle/>
          <a:p>
            <a:pPr algn="ctr"/>
            <a:r>
              <a:rPr lang="en-US" sz="1800" noProof="1">
                <a:solidFill>
                  <a:schemeClr val="bg1">
                    <a:lumMod val="95000"/>
                  </a:schemeClr>
                </a:solidFill>
                <a:latin typeface="Open Sans Light" pitchFamily="2" charset="0"/>
                <a:ea typeface="Open Sans Light" pitchFamily="2" charset="0"/>
                <a:cs typeface="Open Sans Light" pitchFamily="2" charset="0"/>
              </a:rPr>
              <a:t>Data collection: 2026. 02.</a:t>
            </a:r>
          </a:p>
          <a:p>
            <a:pPr algn="ctr"/>
            <a:r>
              <a:rPr lang="en-US" sz="1800" noProof="1">
                <a:solidFill>
                  <a:schemeClr val="bg1">
                    <a:lumMod val="95000"/>
                  </a:schemeClr>
                </a:solidFill>
                <a:latin typeface="Open Sans Light" pitchFamily="2" charset="0"/>
                <a:ea typeface="Open Sans Light" pitchFamily="2" charset="0"/>
                <a:cs typeface="Open Sans Light" pitchFamily="2" charset="0"/>
              </a:rPr>
              <a:t>Linda, Andy, Benő</a:t>
            </a:r>
            <a:endParaRPr lang="en-US" noProof="1">
              <a:solidFill>
                <a:schemeClr val="bg1">
                  <a:lumMod val="95000"/>
                </a:schemeClr>
              </a:solidFill>
            </a:endParaRPr>
          </a:p>
        </p:txBody>
      </p:sp>
      <p:pic>
        <p:nvPicPr>
          <p:cNvPr id="12" name="Picture 11" descr="A black and white logo&#10;&#10;AI-generated content may be incorrect.">
            <a:extLst>
              <a:ext uri="{FF2B5EF4-FFF2-40B4-BE49-F238E27FC236}">
                <a16:creationId xmlns:a16="http://schemas.microsoft.com/office/drawing/2014/main" id="{0E637604-37E2-144C-1BCB-368559D3CF2F}"/>
              </a:ext>
            </a:extLst>
          </p:cNvPr>
          <p:cNvPicPr>
            <a:picLocks noChangeAspect="1"/>
          </p:cNvPicPr>
          <p:nvPr/>
        </p:nvPicPr>
        <p:blipFill>
          <a:blip r:embed="rId4"/>
          <a:stretch>
            <a:fillRect/>
          </a:stretch>
        </p:blipFill>
        <p:spPr>
          <a:xfrm>
            <a:off x="213751" y="5023082"/>
            <a:ext cx="3094148" cy="1418032"/>
          </a:xfrm>
          <a:prstGeom prst="rect">
            <a:avLst/>
          </a:prstGeom>
        </p:spPr>
      </p:pic>
    </p:spTree>
    <p:extLst>
      <p:ext uri="{BB962C8B-B14F-4D97-AF65-F5344CB8AC3E}">
        <p14:creationId xmlns:p14="http://schemas.microsoft.com/office/powerpoint/2010/main" val="298516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6287-ADDF-A5F1-895E-F2E4D90B26FA}"/>
            </a:ext>
          </a:extLst>
        </p:cNvPr>
        <p:cNvGrpSpPr/>
        <p:nvPr/>
      </p:nvGrpSpPr>
      <p:grpSpPr>
        <a:xfrm>
          <a:off x="0" y="0"/>
          <a:ext cx="0" cy="0"/>
          <a:chOff x="0" y="0"/>
          <a:chExt cx="0" cy="0"/>
        </a:xfrm>
      </p:grpSpPr>
      <p:pic>
        <p:nvPicPr>
          <p:cNvPr id="2" name="Picture 1" descr="A blue background with white text&#10;&#10;AI-generated content may be incorrect.">
            <a:extLst>
              <a:ext uri="{FF2B5EF4-FFF2-40B4-BE49-F238E27FC236}">
                <a16:creationId xmlns:a16="http://schemas.microsoft.com/office/drawing/2014/main" id="{8B87AAA0-39DD-88FE-3760-912E60118126}"/>
              </a:ext>
            </a:extLst>
          </p:cNvPr>
          <p:cNvPicPr>
            <a:picLocks noChangeAspect="1"/>
          </p:cNvPicPr>
          <p:nvPr/>
        </p:nvPicPr>
        <p:blipFill>
          <a:blip r:embed="rId4"/>
          <a:srcRect l="24722" r="50255" b="85485"/>
          <a:stretch>
            <a:fillRect/>
          </a:stretch>
        </p:blipFill>
        <p:spPr>
          <a:xfrm>
            <a:off x="1" y="0"/>
            <a:ext cx="12192000" cy="963748"/>
          </a:xfrm>
          <a:prstGeom prst="rect">
            <a:avLst/>
          </a:prstGeom>
        </p:spPr>
      </p:pic>
      <p:sp>
        <p:nvSpPr>
          <p:cNvPr id="15" name="TextBox 14">
            <a:extLst>
              <a:ext uri="{FF2B5EF4-FFF2-40B4-BE49-F238E27FC236}">
                <a16:creationId xmlns:a16="http://schemas.microsoft.com/office/drawing/2014/main" id="{2187DCCF-8F87-5E2C-7310-926478127EBA}"/>
              </a:ext>
            </a:extLst>
          </p:cNvPr>
          <p:cNvSpPr txBox="1"/>
          <p:nvPr/>
        </p:nvSpPr>
        <p:spPr>
          <a:xfrm>
            <a:off x="0" y="136361"/>
            <a:ext cx="12192000" cy="769441"/>
          </a:xfrm>
          <a:prstGeom prst="rect">
            <a:avLst/>
          </a:prstGeom>
          <a:noFill/>
        </p:spPr>
        <p:txBody>
          <a:bodyPr wrap="square" rtlCol="0">
            <a:spAutoFit/>
          </a:bodyPr>
          <a:lstStyle/>
          <a:p>
            <a:pPr algn="ctr"/>
            <a:r>
              <a:rPr lang="en-US" sz="4400" noProof="1">
                <a:solidFill>
                  <a:schemeClr val="bg1"/>
                </a:solidFill>
              </a:rPr>
              <a:t>Experiment structure</a:t>
            </a:r>
          </a:p>
        </p:txBody>
      </p:sp>
      <p:grpSp>
        <p:nvGrpSpPr>
          <p:cNvPr id="52" name="Group 51">
            <a:extLst>
              <a:ext uri="{FF2B5EF4-FFF2-40B4-BE49-F238E27FC236}">
                <a16:creationId xmlns:a16="http://schemas.microsoft.com/office/drawing/2014/main" id="{BFC92798-6814-D033-D427-DE10D0714F94}"/>
              </a:ext>
            </a:extLst>
          </p:cNvPr>
          <p:cNvGrpSpPr/>
          <p:nvPr/>
        </p:nvGrpSpPr>
        <p:grpSpPr>
          <a:xfrm>
            <a:off x="830369" y="1776515"/>
            <a:ext cx="1808631" cy="817599"/>
            <a:chOff x="2635623" y="3429000"/>
            <a:chExt cx="1808631" cy="1789148"/>
          </a:xfrm>
        </p:grpSpPr>
        <p:sp>
          <p:nvSpPr>
            <p:cNvPr id="56" name="Rectangle 55">
              <a:extLst>
                <a:ext uri="{FF2B5EF4-FFF2-40B4-BE49-F238E27FC236}">
                  <a16:creationId xmlns:a16="http://schemas.microsoft.com/office/drawing/2014/main" id="{EDDAB18E-2E6A-1EDD-2C77-7D01392B2EEE}"/>
                </a:ext>
              </a:extLst>
            </p:cNvPr>
            <p:cNvSpPr/>
            <p:nvPr/>
          </p:nvSpPr>
          <p:spPr>
            <a:xfrm>
              <a:off x="2635623" y="3429000"/>
              <a:ext cx="1808631" cy="13665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 Intro</a:t>
              </a:r>
            </a:p>
          </p:txBody>
        </p:sp>
        <p:sp>
          <p:nvSpPr>
            <p:cNvPr id="57" name="Down Arrow 56">
              <a:extLst>
                <a:ext uri="{FF2B5EF4-FFF2-40B4-BE49-F238E27FC236}">
                  <a16:creationId xmlns:a16="http://schemas.microsoft.com/office/drawing/2014/main" id="{D9636699-D94C-32ED-AFFD-FB71F5FCFD40}"/>
                </a:ext>
              </a:extLst>
            </p:cNvPr>
            <p:cNvSpPr/>
            <p:nvPr/>
          </p:nvSpPr>
          <p:spPr>
            <a:xfrm>
              <a:off x="3771898" y="4767821"/>
              <a:ext cx="430306" cy="4503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58" name="Group 57">
            <a:extLst>
              <a:ext uri="{FF2B5EF4-FFF2-40B4-BE49-F238E27FC236}">
                <a16:creationId xmlns:a16="http://schemas.microsoft.com/office/drawing/2014/main" id="{667ABE10-BBA1-8362-7FA7-9AA4317D96D5}"/>
              </a:ext>
            </a:extLst>
          </p:cNvPr>
          <p:cNvGrpSpPr/>
          <p:nvPr/>
        </p:nvGrpSpPr>
        <p:grpSpPr>
          <a:xfrm>
            <a:off x="830369" y="2797124"/>
            <a:ext cx="1808631" cy="817599"/>
            <a:chOff x="2635623" y="3429000"/>
            <a:chExt cx="1808631" cy="1789148"/>
          </a:xfrm>
        </p:grpSpPr>
        <p:sp>
          <p:nvSpPr>
            <p:cNvPr id="60" name="Rectangle 59">
              <a:extLst>
                <a:ext uri="{FF2B5EF4-FFF2-40B4-BE49-F238E27FC236}">
                  <a16:creationId xmlns:a16="http://schemas.microsoft.com/office/drawing/2014/main" id="{19C99D31-BF74-870F-F65B-F5274560890A}"/>
                </a:ext>
              </a:extLst>
            </p:cNvPr>
            <p:cNvSpPr/>
            <p:nvPr/>
          </p:nvSpPr>
          <p:spPr>
            <a:xfrm>
              <a:off x="2635623" y="3429000"/>
              <a:ext cx="1808631" cy="13665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sensitivity</a:t>
              </a:r>
            </a:p>
          </p:txBody>
        </p:sp>
        <p:sp>
          <p:nvSpPr>
            <p:cNvPr id="64" name="Down Arrow 63">
              <a:extLst>
                <a:ext uri="{FF2B5EF4-FFF2-40B4-BE49-F238E27FC236}">
                  <a16:creationId xmlns:a16="http://schemas.microsoft.com/office/drawing/2014/main" id="{46888B00-C014-1FA3-AFA3-2F40E5AAB19F}"/>
                </a:ext>
              </a:extLst>
            </p:cNvPr>
            <p:cNvSpPr/>
            <p:nvPr/>
          </p:nvSpPr>
          <p:spPr>
            <a:xfrm>
              <a:off x="3771898" y="4767821"/>
              <a:ext cx="430306" cy="4503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65" name="Group 64">
            <a:extLst>
              <a:ext uri="{FF2B5EF4-FFF2-40B4-BE49-F238E27FC236}">
                <a16:creationId xmlns:a16="http://schemas.microsoft.com/office/drawing/2014/main" id="{351EF885-3700-0706-52B1-983F9A6AEC91}"/>
              </a:ext>
            </a:extLst>
          </p:cNvPr>
          <p:cNvGrpSpPr/>
          <p:nvPr/>
        </p:nvGrpSpPr>
        <p:grpSpPr>
          <a:xfrm>
            <a:off x="830369" y="3817733"/>
            <a:ext cx="1808631" cy="817599"/>
            <a:chOff x="2635623" y="3429000"/>
            <a:chExt cx="1808631" cy="1789148"/>
          </a:xfrm>
        </p:grpSpPr>
        <p:sp>
          <p:nvSpPr>
            <p:cNvPr id="66" name="Rectangle 65">
              <a:extLst>
                <a:ext uri="{FF2B5EF4-FFF2-40B4-BE49-F238E27FC236}">
                  <a16:creationId xmlns:a16="http://schemas.microsoft.com/office/drawing/2014/main" id="{2E9FC08D-2A1D-4524-800F-A82762AA0455}"/>
                </a:ext>
              </a:extLst>
            </p:cNvPr>
            <p:cNvSpPr/>
            <p:nvPr/>
          </p:nvSpPr>
          <p:spPr>
            <a:xfrm>
              <a:off x="2635623" y="3429000"/>
              <a:ext cx="1808631" cy="13665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Pattern sensitivity</a:t>
              </a:r>
            </a:p>
          </p:txBody>
        </p:sp>
        <p:sp>
          <p:nvSpPr>
            <p:cNvPr id="67" name="Down Arrow 66">
              <a:extLst>
                <a:ext uri="{FF2B5EF4-FFF2-40B4-BE49-F238E27FC236}">
                  <a16:creationId xmlns:a16="http://schemas.microsoft.com/office/drawing/2014/main" id="{72FFC778-651F-514D-BB0E-3382C9FB8389}"/>
                </a:ext>
              </a:extLst>
            </p:cNvPr>
            <p:cNvSpPr/>
            <p:nvPr/>
          </p:nvSpPr>
          <p:spPr>
            <a:xfrm>
              <a:off x="3771898" y="4767821"/>
              <a:ext cx="430306" cy="4503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69" name="Rectangle 68">
            <a:extLst>
              <a:ext uri="{FF2B5EF4-FFF2-40B4-BE49-F238E27FC236}">
                <a16:creationId xmlns:a16="http://schemas.microsoft.com/office/drawing/2014/main" id="{DF6DCC6D-4ECC-974A-A47F-2CB14C1CAE06}"/>
              </a:ext>
            </a:extLst>
          </p:cNvPr>
          <p:cNvSpPr/>
          <p:nvPr/>
        </p:nvSpPr>
        <p:spPr>
          <a:xfrm>
            <a:off x="830368" y="4838342"/>
            <a:ext cx="1808631" cy="62449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Questionnaire</a:t>
            </a:r>
          </a:p>
        </p:txBody>
      </p:sp>
      <p:sp>
        <p:nvSpPr>
          <p:cNvPr id="71" name="TextBox 70">
            <a:extLst>
              <a:ext uri="{FF2B5EF4-FFF2-40B4-BE49-F238E27FC236}">
                <a16:creationId xmlns:a16="http://schemas.microsoft.com/office/drawing/2014/main" id="{101AA0A1-9814-D856-79E1-F937FF5E8ABF}"/>
              </a:ext>
            </a:extLst>
          </p:cNvPr>
          <p:cNvSpPr txBox="1"/>
          <p:nvPr/>
        </p:nvSpPr>
        <p:spPr>
          <a:xfrm>
            <a:off x="2943617" y="1629221"/>
            <a:ext cx="1989968" cy="1138773"/>
          </a:xfrm>
          <a:prstGeom prst="rect">
            <a:avLst/>
          </a:prstGeom>
          <a:noFill/>
        </p:spPr>
        <p:txBody>
          <a:bodyPr wrap="none" rtlCol="0">
            <a:spAutoFit/>
          </a:bodyPr>
          <a:lstStyle/>
          <a:p>
            <a:pPr marL="342900" indent="-342900">
              <a:buFont typeface="+mj-lt"/>
              <a:buAutoNum type="arabicPeriod"/>
            </a:pPr>
            <a:r>
              <a:rPr lang="en-US" noProof="1"/>
              <a:t>Description</a:t>
            </a:r>
          </a:p>
          <a:p>
            <a:pPr marL="342900" indent="-342900">
              <a:buFont typeface="+mj-lt"/>
              <a:buAutoNum type="arabicPeriod"/>
            </a:pPr>
            <a:r>
              <a:rPr lang="en-US" noProof="1"/>
              <a:t>Questionnaire </a:t>
            </a:r>
            <a:br>
              <a:rPr lang="en-US" noProof="1"/>
            </a:br>
            <a:r>
              <a:rPr lang="en-US" sz="1400" noProof="1"/>
              <a:t>(age, gender)</a:t>
            </a:r>
          </a:p>
          <a:p>
            <a:pPr marL="342900" indent="-342900">
              <a:buFont typeface="+mj-lt"/>
              <a:buAutoNum type="arabicPeriod"/>
            </a:pPr>
            <a:r>
              <a:rPr lang="en-US" noProof="1"/>
              <a:t>Agreement</a:t>
            </a:r>
          </a:p>
        </p:txBody>
      </p:sp>
      <p:sp>
        <p:nvSpPr>
          <p:cNvPr id="72" name="TextBox 71">
            <a:extLst>
              <a:ext uri="{FF2B5EF4-FFF2-40B4-BE49-F238E27FC236}">
                <a16:creationId xmlns:a16="http://schemas.microsoft.com/office/drawing/2014/main" id="{51B423B4-F756-E2D8-13DF-1E1E4DEBF630}"/>
              </a:ext>
            </a:extLst>
          </p:cNvPr>
          <p:cNvSpPr txBox="1"/>
          <p:nvPr/>
        </p:nvSpPr>
        <p:spPr>
          <a:xfrm>
            <a:off x="4269425" y="2594114"/>
            <a:ext cx="4892237" cy="923330"/>
          </a:xfrm>
          <a:prstGeom prst="rect">
            <a:avLst/>
          </a:prstGeom>
          <a:noFill/>
        </p:spPr>
        <p:txBody>
          <a:bodyPr wrap="none" rtlCol="0">
            <a:spAutoFit/>
          </a:bodyPr>
          <a:lstStyle/>
          <a:p>
            <a:pPr marL="342900" indent="-342900">
              <a:buFont typeface="+mj-lt"/>
              <a:buAutoNum type="arabicPeriod"/>
            </a:pPr>
            <a:r>
              <a:rPr lang="en-US" noProof="1"/>
              <a:t>Familiarization: passzív mp4/wav hallgatása</a:t>
            </a:r>
          </a:p>
          <a:p>
            <a:pPr marL="342900" indent="-342900">
              <a:buFont typeface="+mj-lt"/>
              <a:buAutoNum type="arabicPeriod"/>
            </a:pPr>
            <a:r>
              <a:rPr lang="en-US" noProof="1"/>
              <a:t>Practice: go/no-go</a:t>
            </a:r>
          </a:p>
          <a:p>
            <a:pPr marL="342900" indent="-342900">
              <a:buFont typeface="+mj-lt"/>
              <a:buAutoNum type="arabicPeriod"/>
            </a:pPr>
            <a:r>
              <a:rPr lang="en-US" noProof="1"/>
              <a:t>Test 1/2/3: go/no-go</a:t>
            </a:r>
          </a:p>
        </p:txBody>
      </p:sp>
      <p:sp>
        <p:nvSpPr>
          <p:cNvPr id="73" name="TextBox 72">
            <a:extLst>
              <a:ext uri="{FF2B5EF4-FFF2-40B4-BE49-F238E27FC236}">
                <a16:creationId xmlns:a16="http://schemas.microsoft.com/office/drawing/2014/main" id="{DFD368AB-2F3C-A603-D5CD-E1F5E1EEF392}"/>
              </a:ext>
            </a:extLst>
          </p:cNvPr>
          <p:cNvSpPr txBox="1"/>
          <p:nvPr/>
        </p:nvSpPr>
        <p:spPr>
          <a:xfrm>
            <a:off x="6931632" y="3630962"/>
            <a:ext cx="2499659" cy="646331"/>
          </a:xfrm>
          <a:prstGeom prst="rect">
            <a:avLst/>
          </a:prstGeom>
          <a:noFill/>
        </p:spPr>
        <p:txBody>
          <a:bodyPr wrap="none" rtlCol="0">
            <a:spAutoFit/>
          </a:bodyPr>
          <a:lstStyle/>
          <a:p>
            <a:pPr marL="342900" indent="-342900">
              <a:buFont typeface="+mj-lt"/>
              <a:buAutoNum type="arabicPeriod"/>
            </a:pPr>
            <a:r>
              <a:rPr lang="en-US" noProof="1"/>
              <a:t>Practice: go/no-go</a:t>
            </a:r>
          </a:p>
          <a:p>
            <a:pPr marL="342900" indent="-342900">
              <a:buFont typeface="+mj-lt"/>
              <a:buAutoNum type="arabicPeriod"/>
            </a:pPr>
            <a:r>
              <a:rPr lang="en-US" noProof="1"/>
              <a:t>Test 1/2/3: go/no-go</a:t>
            </a:r>
          </a:p>
        </p:txBody>
      </p:sp>
      <p:sp>
        <p:nvSpPr>
          <p:cNvPr id="74" name="TextBox 73">
            <a:extLst>
              <a:ext uri="{FF2B5EF4-FFF2-40B4-BE49-F238E27FC236}">
                <a16:creationId xmlns:a16="http://schemas.microsoft.com/office/drawing/2014/main" id="{A5BD6299-5434-5D6C-5545-95CC02EDAFDD}"/>
              </a:ext>
            </a:extLst>
          </p:cNvPr>
          <p:cNvSpPr txBox="1"/>
          <p:nvPr/>
        </p:nvSpPr>
        <p:spPr>
          <a:xfrm>
            <a:off x="8624733" y="4635332"/>
            <a:ext cx="3468898" cy="646331"/>
          </a:xfrm>
          <a:prstGeom prst="rect">
            <a:avLst/>
          </a:prstGeom>
          <a:noFill/>
        </p:spPr>
        <p:txBody>
          <a:bodyPr wrap="none" rtlCol="0">
            <a:spAutoFit/>
          </a:bodyPr>
          <a:lstStyle/>
          <a:p>
            <a:r>
              <a:rPr lang="en-US" noProof="1"/>
              <a:t>Types: likert/yes/no/full sentence</a:t>
            </a:r>
          </a:p>
          <a:p>
            <a:r>
              <a:rPr lang="en-US" noProof="1"/>
              <a:t>Final message</a:t>
            </a:r>
          </a:p>
        </p:txBody>
      </p:sp>
      <p:sp>
        <p:nvSpPr>
          <p:cNvPr id="76" name="U-turn Arrow 75">
            <a:extLst>
              <a:ext uri="{FF2B5EF4-FFF2-40B4-BE49-F238E27FC236}">
                <a16:creationId xmlns:a16="http://schemas.microsoft.com/office/drawing/2014/main" id="{6E177ABF-88FD-0433-BEDA-FE6EFC1DD272}"/>
              </a:ext>
            </a:extLst>
          </p:cNvPr>
          <p:cNvSpPr/>
          <p:nvPr/>
        </p:nvSpPr>
        <p:spPr>
          <a:xfrm rot="16200000" flipV="1">
            <a:off x="9195450" y="2636894"/>
            <a:ext cx="646331" cy="822510"/>
          </a:xfrm>
          <a:prstGeom prst="uturnArrow">
            <a:avLst>
              <a:gd name="adj1" fmla="val 5202"/>
              <a:gd name="adj2" fmla="val 25000"/>
              <a:gd name="adj3" fmla="val 25000"/>
              <a:gd name="adj4" fmla="val 43750"/>
              <a:gd name="adj5" fmla="val 7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solidFill>
                <a:schemeClr val="tx1"/>
              </a:solidFill>
            </a:endParaRPr>
          </a:p>
        </p:txBody>
      </p:sp>
      <p:sp>
        <p:nvSpPr>
          <p:cNvPr id="77" name="U-turn Arrow 76">
            <a:extLst>
              <a:ext uri="{FF2B5EF4-FFF2-40B4-BE49-F238E27FC236}">
                <a16:creationId xmlns:a16="http://schemas.microsoft.com/office/drawing/2014/main" id="{62F4FBEA-0382-4F84-3A88-03E93E49EA32}"/>
              </a:ext>
            </a:extLst>
          </p:cNvPr>
          <p:cNvSpPr/>
          <p:nvPr/>
        </p:nvSpPr>
        <p:spPr>
          <a:xfrm rot="16200000" flipV="1">
            <a:off x="9408168" y="3525261"/>
            <a:ext cx="525046" cy="822510"/>
          </a:xfrm>
          <a:prstGeom prst="uturnArrow">
            <a:avLst>
              <a:gd name="adj1" fmla="val 5202"/>
              <a:gd name="adj2" fmla="val 25000"/>
              <a:gd name="adj3" fmla="val 25000"/>
              <a:gd name="adj4" fmla="val 43750"/>
              <a:gd name="adj5" fmla="val 7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solidFill>
                <a:schemeClr val="tx1"/>
              </a:solidFill>
            </a:endParaRPr>
          </a:p>
        </p:txBody>
      </p:sp>
      <p:sp>
        <p:nvSpPr>
          <p:cNvPr id="78" name="TextBox 77">
            <a:extLst>
              <a:ext uri="{FF2B5EF4-FFF2-40B4-BE49-F238E27FC236}">
                <a16:creationId xmlns:a16="http://schemas.microsoft.com/office/drawing/2014/main" id="{87281EA9-1D02-CE58-B799-97506D792E44}"/>
              </a:ext>
            </a:extLst>
          </p:cNvPr>
          <p:cNvSpPr txBox="1"/>
          <p:nvPr/>
        </p:nvSpPr>
        <p:spPr>
          <a:xfrm>
            <a:off x="10016161" y="2929635"/>
            <a:ext cx="3561552" cy="307777"/>
          </a:xfrm>
          <a:prstGeom prst="rect">
            <a:avLst/>
          </a:prstGeom>
          <a:noFill/>
        </p:spPr>
        <p:txBody>
          <a:bodyPr wrap="none" rtlCol="0">
            <a:spAutoFit/>
          </a:bodyPr>
          <a:lstStyle/>
          <a:p>
            <a:r>
              <a:rPr lang="en-US" sz="1400" i="1" noProof="1"/>
              <a:t>Change of modality (instucion, inputfile-set)</a:t>
            </a:r>
          </a:p>
        </p:txBody>
      </p:sp>
      <p:sp>
        <p:nvSpPr>
          <p:cNvPr id="79" name="TextBox 78">
            <a:extLst>
              <a:ext uri="{FF2B5EF4-FFF2-40B4-BE49-F238E27FC236}">
                <a16:creationId xmlns:a16="http://schemas.microsoft.com/office/drawing/2014/main" id="{3300B51E-6381-58B3-E9A2-09B96244D0D2}"/>
              </a:ext>
            </a:extLst>
          </p:cNvPr>
          <p:cNvSpPr txBox="1"/>
          <p:nvPr/>
        </p:nvSpPr>
        <p:spPr>
          <a:xfrm>
            <a:off x="10084857" y="3684737"/>
            <a:ext cx="2643477" cy="523220"/>
          </a:xfrm>
          <a:prstGeom prst="rect">
            <a:avLst/>
          </a:prstGeom>
          <a:noFill/>
        </p:spPr>
        <p:txBody>
          <a:bodyPr wrap="square" rtlCol="0">
            <a:spAutoFit/>
          </a:bodyPr>
          <a:lstStyle/>
          <a:p>
            <a:r>
              <a:rPr lang="en-US" sz="1400" i="1" noProof="1"/>
              <a:t>Change of modality </a:t>
            </a:r>
          </a:p>
          <a:p>
            <a:r>
              <a:rPr lang="en-US" sz="1400" i="1" noProof="1"/>
              <a:t>(instucion, inputfile-set)</a:t>
            </a:r>
          </a:p>
        </p:txBody>
      </p:sp>
      <p:sp>
        <p:nvSpPr>
          <p:cNvPr id="81" name="TextBox 80">
            <a:extLst>
              <a:ext uri="{FF2B5EF4-FFF2-40B4-BE49-F238E27FC236}">
                <a16:creationId xmlns:a16="http://schemas.microsoft.com/office/drawing/2014/main" id="{33B7B6A5-1443-97CA-9053-78F0605DEBE8}"/>
              </a:ext>
            </a:extLst>
          </p:cNvPr>
          <p:cNvSpPr txBox="1"/>
          <p:nvPr/>
        </p:nvSpPr>
        <p:spPr>
          <a:xfrm>
            <a:off x="272675" y="5719258"/>
            <a:ext cx="11820956" cy="923330"/>
          </a:xfrm>
          <a:prstGeom prst="rect">
            <a:avLst/>
          </a:prstGeom>
          <a:noFill/>
        </p:spPr>
        <p:txBody>
          <a:bodyPr wrap="square" rtlCol="0">
            <a:spAutoFit/>
          </a:bodyPr>
          <a:lstStyle/>
          <a:p>
            <a:r>
              <a:rPr lang="en-US" noProof="1"/>
              <a:t>Each test file is picked random from the relevant fileset. Eg. I generate a random number, and if it is 3, then it will be the 3rd input file from each file set, that is presented for the current participant. You can see a </a:t>
            </a:r>
            <a:r>
              <a:rPr lang="en-US" noProof="1">
                <a:hlinkClick r:id="rId5"/>
              </a:rPr>
              <a:t>sample test </a:t>
            </a:r>
            <a:r>
              <a:rPr lang="en-US" noProof="1"/>
              <a:t>for duration here, and the current javascript </a:t>
            </a:r>
            <a:r>
              <a:rPr lang="en-US" noProof="1">
                <a:hlinkClick r:id="rId6"/>
              </a:rPr>
              <a:t>code</a:t>
            </a:r>
            <a:r>
              <a:rPr lang="en-US" noProof="1"/>
              <a:t> here.</a:t>
            </a:r>
          </a:p>
        </p:txBody>
      </p:sp>
    </p:spTree>
    <p:custDataLst>
      <p:tags r:id="rId1"/>
    </p:custDataLst>
    <p:extLst>
      <p:ext uri="{BB962C8B-B14F-4D97-AF65-F5344CB8AC3E}">
        <p14:creationId xmlns:p14="http://schemas.microsoft.com/office/powerpoint/2010/main" val="35521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65069-A75E-6EC5-6120-DA528834EE5E}"/>
            </a:ext>
          </a:extLst>
        </p:cNvPr>
        <p:cNvGrpSpPr/>
        <p:nvPr/>
      </p:nvGrpSpPr>
      <p:grpSpPr>
        <a:xfrm>
          <a:off x="0" y="0"/>
          <a:ext cx="0" cy="0"/>
          <a:chOff x="0" y="0"/>
          <a:chExt cx="0" cy="0"/>
        </a:xfrm>
      </p:grpSpPr>
      <p:pic>
        <p:nvPicPr>
          <p:cNvPr id="2" name="Picture 1" descr="A blue background with white text&#10;&#10;AI-generated content may be incorrect.">
            <a:extLst>
              <a:ext uri="{FF2B5EF4-FFF2-40B4-BE49-F238E27FC236}">
                <a16:creationId xmlns:a16="http://schemas.microsoft.com/office/drawing/2014/main" id="{B8E0AE2A-BB91-DB52-67A0-6083018BB352}"/>
              </a:ext>
            </a:extLst>
          </p:cNvPr>
          <p:cNvPicPr>
            <a:picLocks noChangeAspect="1"/>
          </p:cNvPicPr>
          <p:nvPr/>
        </p:nvPicPr>
        <p:blipFill>
          <a:blip r:embed="rId4"/>
          <a:srcRect l="24722" r="50255" b="85485"/>
          <a:stretch>
            <a:fillRect/>
          </a:stretch>
        </p:blipFill>
        <p:spPr>
          <a:xfrm>
            <a:off x="1" y="0"/>
            <a:ext cx="12192000" cy="963748"/>
          </a:xfrm>
          <a:prstGeom prst="rect">
            <a:avLst/>
          </a:prstGeom>
        </p:spPr>
      </p:pic>
      <p:sp>
        <p:nvSpPr>
          <p:cNvPr id="15" name="TextBox 14">
            <a:extLst>
              <a:ext uri="{FF2B5EF4-FFF2-40B4-BE49-F238E27FC236}">
                <a16:creationId xmlns:a16="http://schemas.microsoft.com/office/drawing/2014/main" id="{313F055E-3BD4-9C0B-B187-E428F4F756BA}"/>
              </a:ext>
            </a:extLst>
          </p:cNvPr>
          <p:cNvSpPr txBox="1"/>
          <p:nvPr/>
        </p:nvSpPr>
        <p:spPr>
          <a:xfrm>
            <a:off x="0" y="136361"/>
            <a:ext cx="12192000" cy="769441"/>
          </a:xfrm>
          <a:prstGeom prst="rect">
            <a:avLst/>
          </a:prstGeom>
          <a:noFill/>
        </p:spPr>
        <p:txBody>
          <a:bodyPr wrap="square" rtlCol="0">
            <a:spAutoFit/>
          </a:bodyPr>
          <a:lstStyle/>
          <a:p>
            <a:pPr algn="ctr"/>
            <a:r>
              <a:rPr lang="en-US" sz="4400" noProof="1">
                <a:solidFill>
                  <a:schemeClr val="bg1"/>
                </a:solidFill>
              </a:rPr>
              <a:t>Experiment structure in more details</a:t>
            </a:r>
          </a:p>
        </p:txBody>
      </p:sp>
      <p:grpSp>
        <p:nvGrpSpPr>
          <p:cNvPr id="14" name="Group 13">
            <a:extLst>
              <a:ext uri="{FF2B5EF4-FFF2-40B4-BE49-F238E27FC236}">
                <a16:creationId xmlns:a16="http://schemas.microsoft.com/office/drawing/2014/main" id="{F11E14CE-179F-F648-8B6D-6A834A4FBA58}"/>
              </a:ext>
            </a:extLst>
          </p:cNvPr>
          <p:cNvGrpSpPr/>
          <p:nvPr/>
        </p:nvGrpSpPr>
        <p:grpSpPr>
          <a:xfrm>
            <a:off x="1747274" y="1828345"/>
            <a:ext cx="1808631" cy="817599"/>
            <a:chOff x="2635623" y="3429000"/>
            <a:chExt cx="1808631" cy="1789148"/>
          </a:xfrm>
        </p:grpSpPr>
        <p:sp>
          <p:nvSpPr>
            <p:cNvPr id="11" name="Rectangle 10">
              <a:extLst>
                <a:ext uri="{FF2B5EF4-FFF2-40B4-BE49-F238E27FC236}">
                  <a16:creationId xmlns:a16="http://schemas.microsoft.com/office/drawing/2014/main" id="{9AA39C00-D75D-761F-7977-FA042BA740EF}"/>
                </a:ext>
              </a:extLst>
            </p:cNvPr>
            <p:cNvSpPr/>
            <p:nvPr/>
          </p:nvSpPr>
          <p:spPr>
            <a:xfrm>
              <a:off x="2635623" y="3429000"/>
              <a:ext cx="1808631" cy="13665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Familiarization (M1)</a:t>
              </a:r>
            </a:p>
          </p:txBody>
        </p:sp>
        <p:sp>
          <p:nvSpPr>
            <p:cNvPr id="12" name="Down Arrow 11">
              <a:extLst>
                <a:ext uri="{FF2B5EF4-FFF2-40B4-BE49-F238E27FC236}">
                  <a16:creationId xmlns:a16="http://schemas.microsoft.com/office/drawing/2014/main" id="{EB6B5999-873E-AB06-8B60-C93219008EFF}"/>
                </a:ext>
              </a:extLst>
            </p:cNvPr>
            <p:cNvSpPr/>
            <p:nvPr/>
          </p:nvSpPr>
          <p:spPr>
            <a:xfrm>
              <a:off x="3771898" y="4767821"/>
              <a:ext cx="430306" cy="4503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16" name="Group 15">
            <a:extLst>
              <a:ext uri="{FF2B5EF4-FFF2-40B4-BE49-F238E27FC236}">
                <a16:creationId xmlns:a16="http://schemas.microsoft.com/office/drawing/2014/main" id="{7958B996-80F0-FC6C-2D02-B45FD1B28498}"/>
              </a:ext>
            </a:extLst>
          </p:cNvPr>
          <p:cNvGrpSpPr/>
          <p:nvPr/>
        </p:nvGrpSpPr>
        <p:grpSpPr>
          <a:xfrm>
            <a:off x="2312049" y="2644498"/>
            <a:ext cx="1573305" cy="723242"/>
            <a:chOff x="2635623" y="3164168"/>
            <a:chExt cx="1573305" cy="1582667"/>
          </a:xfrm>
        </p:grpSpPr>
        <p:sp>
          <p:nvSpPr>
            <p:cNvPr id="17" name="Rectangle 16">
              <a:extLst>
                <a:ext uri="{FF2B5EF4-FFF2-40B4-BE49-F238E27FC236}">
                  <a16:creationId xmlns:a16="http://schemas.microsoft.com/office/drawing/2014/main" id="{0A288D38-59DA-C5F0-6FB2-B4AB561CDF75}"/>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(M1) practice</a:t>
              </a:r>
            </a:p>
          </p:txBody>
        </p:sp>
        <p:sp>
          <p:nvSpPr>
            <p:cNvPr id="18" name="Down Arrow 17">
              <a:extLst>
                <a:ext uri="{FF2B5EF4-FFF2-40B4-BE49-F238E27FC236}">
                  <a16:creationId xmlns:a16="http://schemas.microsoft.com/office/drawing/2014/main" id="{0F20D6C1-A4BF-9EFA-A329-AA5A1C0D29FF}"/>
                </a:ext>
              </a:extLst>
            </p:cNvPr>
            <p:cNvSpPr/>
            <p:nvPr/>
          </p:nvSpPr>
          <p:spPr>
            <a:xfrm>
              <a:off x="3536577" y="4343399"/>
              <a:ext cx="430306" cy="40343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19" name="Group 18">
            <a:extLst>
              <a:ext uri="{FF2B5EF4-FFF2-40B4-BE49-F238E27FC236}">
                <a16:creationId xmlns:a16="http://schemas.microsoft.com/office/drawing/2014/main" id="{F59737F7-5778-5B67-8FCC-37E003B2211B}"/>
              </a:ext>
            </a:extLst>
          </p:cNvPr>
          <p:cNvGrpSpPr/>
          <p:nvPr/>
        </p:nvGrpSpPr>
        <p:grpSpPr>
          <a:xfrm>
            <a:off x="2686221" y="3375036"/>
            <a:ext cx="1573305" cy="741678"/>
            <a:chOff x="2635623" y="3164168"/>
            <a:chExt cx="1573305" cy="1623011"/>
          </a:xfrm>
        </p:grpSpPr>
        <p:sp>
          <p:nvSpPr>
            <p:cNvPr id="20" name="Rectangle 19">
              <a:extLst>
                <a:ext uri="{FF2B5EF4-FFF2-40B4-BE49-F238E27FC236}">
                  <a16:creationId xmlns:a16="http://schemas.microsoft.com/office/drawing/2014/main" id="{7F220F70-EF55-4308-F8CD-6FE1990807F6}"/>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(M1) </a:t>
              </a:r>
            </a:p>
            <a:p>
              <a:pPr algn="ctr"/>
              <a:r>
                <a:rPr lang="en-US" noProof="1"/>
                <a:t>test 1-2</a:t>
              </a:r>
            </a:p>
          </p:txBody>
        </p:sp>
        <p:sp>
          <p:nvSpPr>
            <p:cNvPr id="21" name="Down Arrow 20">
              <a:extLst>
                <a:ext uri="{FF2B5EF4-FFF2-40B4-BE49-F238E27FC236}">
                  <a16:creationId xmlns:a16="http://schemas.microsoft.com/office/drawing/2014/main" id="{5066852F-B069-07F2-20AA-695649B31824}"/>
                </a:ext>
              </a:extLst>
            </p:cNvPr>
            <p:cNvSpPr/>
            <p:nvPr/>
          </p:nvSpPr>
          <p:spPr>
            <a:xfrm>
              <a:off x="3536577" y="4343399"/>
              <a:ext cx="430306" cy="443780"/>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4" name="Group 33">
            <a:extLst>
              <a:ext uri="{FF2B5EF4-FFF2-40B4-BE49-F238E27FC236}">
                <a16:creationId xmlns:a16="http://schemas.microsoft.com/office/drawing/2014/main" id="{D442D584-3531-4D15-0761-8EFBA5505562}"/>
              </a:ext>
            </a:extLst>
          </p:cNvPr>
          <p:cNvGrpSpPr/>
          <p:nvPr/>
        </p:nvGrpSpPr>
        <p:grpSpPr>
          <a:xfrm>
            <a:off x="2875383" y="4092082"/>
            <a:ext cx="1848970" cy="725640"/>
            <a:chOff x="2635623" y="3429000"/>
            <a:chExt cx="1848970" cy="1587913"/>
          </a:xfrm>
        </p:grpSpPr>
        <p:sp>
          <p:nvSpPr>
            <p:cNvPr id="35" name="Rectangle 34">
              <a:extLst>
                <a:ext uri="{FF2B5EF4-FFF2-40B4-BE49-F238E27FC236}">
                  <a16:creationId xmlns:a16="http://schemas.microsoft.com/office/drawing/2014/main" id="{D59DEB07-AA94-D64A-25F8-7DE981648217}"/>
                </a:ext>
              </a:extLst>
            </p:cNvPr>
            <p:cNvSpPr/>
            <p:nvPr/>
          </p:nvSpPr>
          <p:spPr>
            <a:xfrm>
              <a:off x="2635623" y="3429000"/>
              <a:ext cx="1848970"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Familiarization (M2)</a:t>
              </a:r>
            </a:p>
          </p:txBody>
        </p:sp>
        <p:sp>
          <p:nvSpPr>
            <p:cNvPr id="36" name="Down Arrow 35">
              <a:extLst>
                <a:ext uri="{FF2B5EF4-FFF2-40B4-BE49-F238E27FC236}">
                  <a16:creationId xmlns:a16="http://schemas.microsoft.com/office/drawing/2014/main" id="{F1E9ABD6-C32C-45B7-1E9B-BED867F9EC9A}"/>
                </a:ext>
              </a:extLst>
            </p:cNvPr>
            <p:cNvSpPr/>
            <p:nvPr/>
          </p:nvSpPr>
          <p:spPr>
            <a:xfrm>
              <a:off x="3836976" y="4587233"/>
              <a:ext cx="430306" cy="429680"/>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37" name="Group 36">
            <a:extLst>
              <a:ext uri="{FF2B5EF4-FFF2-40B4-BE49-F238E27FC236}">
                <a16:creationId xmlns:a16="http://schemas.microsoft.com/office/drawing/2014/main" id="{E5891F43-35F5-AADD-E5ED-13D988489FBC}"/>
              </a:ext>
            </a:extLst>
          </p:cNvPr>
          <p:cNvGrpSpPr/>
          <p:nvPr/>
        </p:nvGrpSpPr>
        <p:grpSpPr>
          <a:xfrm>
            <a:off x="3472873" y="4817722"/>
            <a:ext cx="1573305" cy="725639"/>
            <a:chOff x="2635623" y="3164168"/>
            <a:chExt cx="1573305" cy="1587913"/>
          </a:xfrm>
        </p:grpSpPr>
        <p:sp>
          <p:nvSpPr>
            <p:cNvPr id="38" name="Rectangle 37">
              <a:extLst>
                <a:ext uri="{FF2B5EF4-FFF2-40B4-BE49-F238E27FC236}">
                  <a16:creationId xmlns:a16="http://schemas.microsoft.com/office/drawing/2014/main" id="{12E38561-6BEF-DABE-7CD6-AC04DA12077B}"/>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(M2) practice</a:t>
              </a:r>
            </a:p>
          </p:txBody>
        </p:sp>
        <p:sp>
          <p:nvSpPr>
            <p:cNvPr id="39" name="Down Arrow 38">
              <a:extLst>
                <a:ext uri="{FF2B5EF4-FFF2-40B4-BE49-F238E27FC236}">
                  <a16:creationId xmlns:a16="http://schemas.microsoft.com/office/drawing/2014/main" id="{78937D58-0FE8-9642-B030-5FD4FDDD8D77}"/>
                </a:ext>
              </a:extLst>
            </p:cNvPr>
            <p:cNvSpPr/>
            <p:nvPr/>
          </p:nvSpPr>
          <p:spPr>
            <a:xfrm>
              <a:off x="3536577" y="4343399"/>
              <a:ext cx="430306" cy="40868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40" name="Group 39">
            <a:extLst>
              <a:ext uri="{FF2B5EF4-FFF2-40B4-BE49-F238E27FC236}">
                <a16:creationId xmlns:a16="http://schemas.microsoft.com/office/drawing/2014/main" id="{76E91898-3FBB-2B74-1D3F-0E57A2EEEC8F}"/>
              </a:ext>
            </a:extLst>
          </p:cNvPr>
          <p:cNvGrpSpPr/>
          <p:nvPr/>
        </p:nvGrpSpPr>
        <p:grpSpPr>
          <a:xfrm>
            <a:off x="3885354" y="5520246"/>
            <a:ext cx="1573305" cy="840423"/>
            <a:chOff x="2635623" y="3164168"/>
            <a:chExt cx="1573305" cy="1839094"/>
          </a:xfrm>
        </p:grpSpPr>
        <p:sp>
          <p:nvSpPr>
            <p:cNvPr id="41" name="Rectangle 40">
              <a:extLst>
                <a:ext uri="{FF2B5EF4-FFF2-40B4-BE49-F238E27FC236}">
                  <a16:creationId xmlns:a16="http://schemas.microsoft.com/office/drawing/2014/main" id="{6C65C15F-B5BD-560E-07A0-D648808E9B26}"/>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(M2) </a:t>
              </a:r>
            </a:p>
            <a:p>
              <a:pPr algn="ctr"/>
              <a:r>
                <a:rPr lang="en-US" noProof="1"/>
                <a:t>test 1-2</a:t>
              </a:r>
            </a:p>
          </p:txBody>
        </p:sp>
        <p:sp>
          <p:nvSpPr>
            <p:cNvPr id="42" name="Down Arrow 41">
              <a:extLst>
                <a:ext uri="{FF2B5EF4-FFF2-40B4-BE49-F238E27FC236}">
                  <a16:creationId xmlns:a16="http://schemas.microsoft.com/office/drawing/2014/main" id="{18042105-386C-D345-D005-2A733ADF7736}"/>
                </a:ext>
              </a:extLst>
            </p:cNvPr>
            <p:cNvSpPr/>
            <p:nvPr/>
          </p:nvSpPr>
          <p:spPr>
            <a:xfrm>
              <a:off x="3536577" y="4343399"/>
              <a:ext cx="430306" cy="659863"/>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59" name="Freeform 58">
            <a:extLst>
              <a:ext uri="{FF2B5EF4-FFF2-40B4-BE49-F238E27FC236}">
                <a16:creationId xmlns:a16="http://schemas.microsoft.com/office/drawing/2014/main" id="{BB14300A-D749-4843-0E86-B348208B0538}"/>
              </a:ext>
            </a:extLst>
          </p:cNvPr>
          <p:cNvSpPr/>
          <p:nvPr/>
        </p:nvSpPr>
        <p:spPr>
          <a:xfrm>
            <a:off x="5684142" y="2173045"/>
            <a:ext cx="528281" cy="4116928"/>
          </a:xfrm>
          <a:custGeom>
            <a:avLst/>
            <a:gdLst>
              <a:gd name="csX0" fmla="*/ 0 w 1585779"/>
              <a:gd name="csY0" fmla="*/ 4358949 h 4822722"/>
              <a:gd name="csX1" fmla="*/ 532436 w 1585779"/>
              <a:gd name="csY1" fmla="*/ 4798787 h 4822722"/>
              <a:gd name="csX2" fmla="*/ 1273215 w 1585779"/>
              <a:gd name="csY2" fmla="*/ 4717764 h 4822722"/>
              <a:gd name="csX3" fmla="*/ 1527858 w 1585779"/>
              <a:gd name="csY3" fmla="*/ 4324225 h 4822722"/>
              <a:gd name="csX4" fmla="*/ 1585732 w 1585779"/>
              <a:gd name="csY4" fmla="*/ 3676043 h 4822722"/>
              <a:gd name="csX5" fmla="*/ 1527858 w 1585779"/>
              <a:gd name="csY5" fmla="*/ 3074159 h 4822722"/>
              <a:gd name="csX6" fmla="*/ 1215342 w 1585779"/>
              <a:gd name="csY6" fmla="*/ 2472276 h 4822722"/>
              <a:gd name="csX7" fmla="*/ 729205 w 1585779"/>
              <a:gd name="csY7" fmla="*/ 1986139 h 4822722"/>
              <a:gd name="csX8" fmla="*/ 393539 w 1585779"/>
              <a:gd name="csY8" fmla="*/ 1071739 h 4822722"/>
              <a:gd name="csX9" fmla="*/ 231494 w 1585779"/>
              <a:gd name="csY9" fmla="*/ 550878 h 4822722"/>
              <a:gd name="csX10" fmla="*/ 439838 w 1585779"/>
              <a:gd name="csY10" fmla="*/ 76316 h 4822722"/>
              <a:gd name="csX11" fmla="*/ 983848 w 1585779"/>
              <a:gd name="csY11" fmla="*/ 6868 h 48227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85779" h="4822722">
                <a:moveTo>
                  <a:pt x="0" y="4358949"/>
                </a:moveTo>
                <a:cubicBezTo>
                  <a:pt x="160117" y="4548967"/>
                  <a:pt x="320234" y="4738985"/>
                  <a:pt x="532436" y="4798787"/>
                </a:cubicBezTo>
                <a:cubicBezTo>
                  <a:pt x="744638" y="4858589"/>
                  <a:pt x="1107311" y="4796858"/>
                  <a:pt x="1273215" y="4717764"/>
                </a:cubicBezTo>
                <a:cubicBezTo>
                  <a:pt x="1439119" y="4638670"/>
                  <a:pt x="1475772" y="4497845"/>
                  <a:pt x="1527858" y="4324225"/>
                </a:cubicBezTo>
                <a:cubicBezTo>
                  <a:pt x="1579944" y="4150605"/>
                  <a:pt x="1585732" y="3884387"/>
                  <a:pt x="1585732" y="3676043"/>
                </a:cubicBezTo>
                <a:cubicBezTo>
                  <a:pt x="1585732" y="3467699"/>
                  <a:pt x="1589590" y="3274787"/>
                  <a:pt x="1527858" y="3074159"/>
                </a:cubicBezTo>
                <a:cubicBezTo>
                  <a:pt x="1466126" y="2873531"/>
                  <a:pt x="1348451" y="2653613"/>
                  <a:pt x="1215342" y="2472276"/>
                </a:cubicBezTo>
                <a:cubicBezTo>
                  <a:pt x="1082233" y="2290939"/>
                  <a:pt x="866172" y="2219562"/>
                  <a:pt x="729205" y="1986139"/>
                </a:cubicBezTo>
                <a:cubicBezTo>
                  <a:pt x="592238" y="1752716"/>
                  <a:pt x="476491" y="1310949"/>
                  <a:pt x="393539" y="1071739"/>
                </a:cubicBezTo>
                <a:cubicBezTo>
                  <a:pt x="310587" y="832529"/>
                  <a:pt x="223778" y="716782"/>
                  <a:pt x="231494" y="550878"/>
                </a:cubicBezTo>
                <a:cubicBezTo>
                  <a:pt x="239210" y="384974"/>
                  <a:pt x="314446" y="166984"/>
                  <a:pt x="439838" y="76316"/>
                </a:cubicBezTo>
                <a:cubicBezTo>
                  <a:pt x="565230" y="-14352"/>
                  <a:pt x="774539" y="-3742"/>
                  <a:pt x="983848" y="6868"/>
                </a:cubicBezTo>
              </a:path>
            </a:pathLst>
          </a:custGeom>
          <a:noFill/>
          <a:ln w="38100">
            <a:solidFill>
              <a:srgbClr val="15608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61" name="Folded Corner 60">
            <a:extLst>
              <a:ext uri="{FF2B5EF4-FFF2-40B4-BE49-F238E27FC236}">
                <a16:creationId xmlns:a16="http://schemas.microsoft.com/office/drawing/2014/main" id="{8F549210-13B0-2A9C-82E4-EA1DE0E4C752}"/>
              </a:ext>
            </a:extLst>
          </p:cNvPr>
          <p:cNvSpPr/>
          <p:nvPr/>
        </p:nvSpPr>
        <p:spPr>
          <a:xfrm>
            <a:off x="1232204" y="1935831"/>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1</a:t>
            </a:r>
          </a:p>
        </p:txBody>
      </p:sp>
      <p:sp>
        <p:nvSpPr>
          <p:cNvPr id="62" name="Folded Corner 61">
            <a:extLst>
              <a:ext uri="{FF2B5EF4-FFF2-40B4-BE49-F238E27FC236}">
                <a16:creationId xmlns:a16="http://schemas.microsoft.com/office/drawing/2014/main" id="{97117684-2285-9533-C8FD-11A5DD709AF7}"/>
              </a:ext>
            </a:extLst>
          </p:cNvPr>
          <p:cNvSpPr/>
          <p:nvPr/>
        </p:nvSpPr>
        <p:spPr>
          <a:xfrm>
            <a:off x="1717976" y="2729578"/>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2</a:t>
            </a:r>
          </a:p>
        </p:txBody>
      </p:sp>
      <p:sp>
        <p:nvSpPr>
          <p:cNvPr id="63" name="Folded Corner 62">
            <a:extLst>
              <a:ext uri="{FF2B5EF4-FFF2-40B4-BE49-F238E27FC236}">
                <a16:creationId xmlns:a16="http://schemas.microsoft.com/office/drawing/2014/main" id="{615ED79B-A214-B9B8-E52C-5562B7365BA6}"/>
              </a:ext>
            </a:extLst>
          </p:cNvPr>
          <p:cNvSpPr/>
          <p:nvPr/>
        </p:nvSpPr>
        <p:spPr>
          <a:xfrm>
            <a:off x="2079069" y="3464306"/>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3</a:t>
            </a:r>
          </a:p>
        </p:txBody>
      </p:sp>
      <p:sp>
        <p:nvSpPr>
          <p:cNvPr id="3" name="Folded Corner 2">
            <a:extLst>
              <a:ext uri="{FF2B5EF4-FFF2-40B4-BE49-F238E27FC236}">
                <a16:creationId xmlns:a16="http://schemas.microsoft.com/office/drawing/2014/main" id="{2B89CD47-8454-68C6-FC95-5ED6BD375D42}"/>
              </a:ext>
            </a:extLst>
          </p:cNvPr>
          <p:cNvSpPr/>
          <p:nvPr/>
        </p:nvSpPr>
        <p:spPr>
          <a:xfrm>
            <a:off x="2287745" y="4204221"/>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4</a:t>
            </a:r>
          </a:p>
        </p:txBody>
      </p:sp>
      <p:sp>
        <p:nvSpPr>
          <p:cNvPr id="4" name="Folded Corner 3">
            <a:extLst>
              <a:ext uri="{FF2B5EF4-FFF2-40B4-BE49-F238E27FC236}">
                <a16:creationId xmlns:a16="http://schemas.microsoft.com/office/drawing/2014/main" id="{A2847845-3426-4D69-7809-7F79B28DCA48}"/>
              </a:ext>
            </a:extLst>
          </p:cNvPr>
          <p:cNvSpPr/>
          <p:nvPr/>
        </p:nvSpPr>
        <p:spPr>
          <a:xfrm>
            <a:off x="2800738" y="4906992"/>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5</a:t>
            </a:r>
          </a:p>
        </p:txBody>
      </p:sp>
      <p:sp>
        <p:nvSpPr>
          <p:cNvPr id="5" name="Folded Corner 4">
            <a:extLst>
              <a:ext uri="{FF2B5EF4-FFF2-40B4-BE49-F238E27FC236}">
                <a16:creationId xmlns:a16="http://schemas.microsoft.com/office/drawing/2014/main" id="{8C94EFF8-298B-DCC9-AA22-3579F8345ACA}"/>
              </a:ext>
            </a:extLst>
          </p:cNvPr>
          <p:cNvSpPr/>
          <p:nvPr/>
        </p:nvSpPr>
        <p:spPr>
          <a:xfrm>
            <a:off x="3200669" y="5632631"/>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6</a:t>
            </a:r>
          </a:p>
        </p:txBody>
      </p:sp>
      <p:grpSp>
        <p:nvGrpSpPr>
          <p:cNvPr id="52" name="Group 51">
            <a:extLst>
              <a:ext uri="{FF2B5EF4-FFF2-40B4-BE49-F238E27FC236}">
                <a16:creationId xmlns:a16="http://schemas.microsoft.com/office/drawing/2014/main" id="{3AE6C86F-A3E5-DCAB-124F-06343C53530E}"/>
              </a:ext>
            </a:extLst>
          </p:cNvPr>
          <p:cNvGrpSpPr/>
          <p:nvPr/>
        </p:nvGrpSpPr>
        <p:grpSpPr>
          <a:xfrm>
            <a:off x="6819213" y="1935831"/>
            <a:ext cx="1573305" cy="723242"/>
            <a:chOff x="2635623" y="3164168"/>
            <a:chExt cx="1573305" cy="1582667"/>
          </a:xfrm>
        </p:grpSpPr>
        <p:sp>
          <p:nvSpPr>
            <p:cNvPr id="56" name="Rectangle 55">
              <a:extLst>
                <a:ext uri="{FF2B5EF4-FFF2-40B4-BE49-F238E27FC236}">
                  <a16:creationId xmlns:a16="http://schemas.microsoft.com/office/drawing/2014/main" id="{938CBA05-DF58-E02A-D39F-0363EA49A6B2}"/>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Pattern (M1) practice</a:t>
              </a:r>
            </a:p>
          </p:txBody>
        </p:sp>
        <p:sp>
          <p:nvSpPr>
            <p:cNvPr id="57" name="Down Arrow 56">
              <a:extLst>
                <a:ext uri="{FF2B5EF4-FFF2-40B4-BE49-F238E27FC236}">
                  <a16:creationId xmlns:a16="http://schemas.microsoft.com/office/drawing/2014/main" id="{4CCF7624-62AC-6351-A21E-82CDAA18B6E7}"/>
                </a:ext>
              </a:extLst>
            </p:cNvPr>
            <p:cNvSpPr/>
            <p:nvPr/>
          </p:nvSpPr>
          <p:spPr>
            <a:xfrm>
              <a:off x="3536577" y="4343399"/>
              <a:ext cx="430306" cy="40343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58" name="Group 57">
            <a:extLst>
              <a:ext uri="{FF2B5EF4-FFF2-40B4-BE49-F238E27FC236}">
                <a16:creationId xmlns:a16="http://schemas.microsoft.com/office/drawing/2014/main" id="{CDFB4E2A-F143-E2F3-ED24-096DDC9B206C}"/>
              </a:ext>
            </a:extLst>
          </p:cNvPr>
          <p:cNvGrpSpPr/>
          <p:nvPr/>
        </p:nvGrpSpPr>
        <p:grpSpPr>
          <a:xfrm>
            <a:off x="7193385" y="2666369"/>
            <a:ext cx="1573305" cy="741678"/>
            <a:chOff x="2635623" y="3164168"/>
            <a:chExt cx="1573305" cy="1623011"/>
          </a:xfrm>
        </p:grpSpPr>
        <p:sp>
          <p:nvSpPr>
            <p:cNvPr id="60" name="Rectangle 59">
              <a:extLst>
                <a:ext uri="{FF2B5EF4-FFF2-40B4-BE49-F238E27FC236}">
                  <a16:creationId xmlns:a16="http://schemas.microsoft.com/office/drawing/2014/main" id="{4C2A0DDF-8C9F-7478-4ACE-60B84EDD196C}"/>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Pattern (M1) </a:t>
              </a:r>
            </a:p>
            <a:p>
              <a:pPr algn="ctr"/>
              <a:r>
                <a:rPr lang="en-US" noProof="1"/>
                <a:t>test 1-2</a:t>
              </a:r>
            </a:p>
          </p:txBody>
        </p:sp>
        <p:sp>
          <p:nvSpPr>
            <p:cNvPr id="64" name="Down Arrow 63">
              <a:extLst>
                <a:ext uri="{FF2B5EF4-FFF2-40B4-BE49-F238E27FC236}">
                  <a16:creationId xmlns:a16="http://schemas.microsoft.com/office/drawing/2014/main" id="{3E67F36D-3E5C-2832-D06A-D182741BE728}"/>
                </a:ext>
              </a:extLst>
            </p:cNvPr>
            <p:cNvSpPr/>
            <p:nvPr/>
          </p:nvSpPr>
          <p:spPr>
            <a:xfrm>
              <a:off x="3536577" y="4343399"/>
              <a:ext cx="430306" cy="443780"/>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68" name="Group 67">
            <a:extLst>
              <a:ext uri="{FF2B5EF4-FFF2-40B4-BE49-F238E27FC236}">
                <a16:creationId xmlns:a16="http://schemas.microsoft.com/office/drawing/2014/main" id="{48A61806-A3F6-0570-0AE6-88A4A730BD8D}"/>
              </a:ext>
            </a:extLst>
          </p:cNvPr>
          <p:cNvGrpSpPr/>
          <p:nvPr/>
        </p:nvGrpSpPr>
        <p:grpSpPr>
          <a:xfrm>
            <a:off x="7865520" y="3429000"/>
            <a:ext cx="1573305" cy="725639"/>
            <a:chOff x="2635623" y="3164168"/>
            <a:chExt cx="1573305" cy="1587913"/>
          </a:xfrm>
        </p:grpSpPr>
        <p:sp>
          <p:nvSpPr>
            <p:cNvPr id="69" name="Rectangle 68">
              <a:extLst>
                <a:ext uri="{FF2B5EF4-FFF2-40B4-BE49-F238E27FC236}">
                  <a16:creationId xmlns:a16="http://schemas.microsoft.com/office/drawing/2014/main" id="{9A81A03B-B2FB-B30D-B87E-BE8A07AE4A66}"/>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(M2) practice</a:t>
              </a:r>
            </a:p>
          </p:txBody>
        </p:sp>
        <p:sp>
          <p:nvSpPr>
            <p:cNvPr id="70" name="Down Arrow 69">
              <a:extLst>
                <a:ext uri="{FF2B5EF4-FFF2-40B4-BE49-F238E27FC236}">
                  <a16:creationId xmlns:a16="http://schemas.microsoft.com/office/drawing/2014/main" id="{78584372-51BA-D55E-284E-8F350EAEAF5A}"/>
                </a:ext>
              </a:extLst>
            </p:cNvPr>
            <p:cNvSpPr/>
            <p:nvPr/>
          </p:nvSpPr>
          <p:spPr>
            <a:xfrm>
              <a:off x="3536577" y="4343399"/>
              <a:ext cx="430306" cy="40868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72" name="Rectangle 71">
            <a:extLst>
              <a:ext uri="{FF2B5EF4-FFF2-40B4-BE49-F238E27FC236}">
                <a16:creationId xmlns:a16="http://schemas.microsoft.com/office/drawing/2014/main" id="{50DA4CAE-02D0-64E0-F741-839D444A0FC2}"/>
              </a:ext>
            </a:extLst>
          </p:cNvPr>
          <p:cNvSpPr/>
          <p:nvPr/>
        </p:nvSpPr>
        <p:spPr>
          <a:xfrm>
            <a:off x="8278001" y="4131524"/>
            <a:ext cx="1573305" cy="5388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(M2) </a:t>
            </a:r>
          </a:p>
          <a:p>
            <a:pPr algn="ctr"/>
            <a:r>
              <a:rPr lang="en-US" noProof="1"/>
              <a:t>test 1-2</a:t>
            </a:r>
          </a:p>
        </p:txBody>
      </p:sp>
      <p:sp>
        <p:nvSpPr>
          <p:cNvPr id="74" name="Folded Corner 73">
            <a:extLst>
              <a:ext uri="{FF2B5EF4-FFF2-40B4-BE49-F238E27FC236}">
                <a16:creationId xmlns:a16="http://schemas.microsoft.com/office/drawing/2014/main" id="{143EB160-30BF-EB7E-0311-F78C6C0744C4}"/>
              </a:ext>
            </a:extLst>
          </p:cNvPr>
          <p:cNvSpPr/>
          <p:nvPr/>
        </p:nvSpPr>
        <p:spPr>
          <a:xfrm>
            <a:off x="6225140" y="2020911"/>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7</a:t>
            </a:r>
          </a:p>
        </p:txBody>
      </p:sp>
      <p:sp>
        <p:nvSpPr>
          <p:cNvPr id="75" name="Folded Corner 74">
            <a:extLst>
              <a:ext uri="{FF2B5EF4-FFF2-40B4-BE49-F238E27FC236}">
                <a16:creationId xmlns:a16="http://schemas.microsoft.com/office/drawing/2014/main" id="{E2E14DC2-E095-C957-CEA0-ADAE35346B7F}"/>
              </a:ext>
            </a:extLst>
          </p:cNvPr>
          <p:cNvSpPr/>
          <p:nvPr/>
        </p:nvSpPr>
        <p:spPr>
          <a:xfrm>
            <a:off x="6586233" y="2755639"/>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8</a:t>
            </a:r>
          </a:p>
        </p:txBody>
      </p:sp>
      <p:sp>
        <p:nvSpPr>
          <p:cNvPr id="77" name="Folded Corner 76">
            <a:extLst>
              <a:ext uri="{FF2B5EF4-FFF2-40B4-BE49-F238E27FC236}">
                <a16:creationId xmlns:a16="http://schemas.microsoft.com/office/drawing/2014/main" id="{4E83A5F3-8FA9-6E7D-D9B8-5B442C6D169E}"/>
              </a:ext>
            </a:extLst>
          </p:cNvPr>
          <p:cNvSpPr/>
          <p:nvPr/>
        </p:nvSpPr>
        <p:spPr>
          <a:xfrm>
            <a:off x="7193385" y="3518270"/>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9</a:t>
            </a:r>
          </a:p>
        </p:txBody>
      </p:sp>
      <p:sp>
        <p:nvSpPr>
          <p:cNvPr id="78" name="Folded Corner 77">
            <a:extLst>
              <a:ext uri="{FF2B5EF4-FFF2-40B4-BE49-F238E27FC236}">
                <a16:creationId xmlns:a16="http://schemas.microsoft.com/office/drawing/2014/main" id="{D2397813-A3F4-4E3A-94AC-2CFDC51AA512}"/>
              </a:ext>
            </a:extLst>
          </p:cNvPr>
          <p:cNvSpPr/>
          <p:nvPr/>
        </p:nvSpPr>
        <p:spPr>
          <a:xfrm>
            <a:off x="7593316" y="4243909"/>
            <a:ext cx="419320" cy="360342"/>
          </a:xfrm>
          <a:prstGeom prst="foldedCorner">
            <a:avLst/>
          </a:prstGeom>
          <a:solidFill>
            <a:schemeClr val="accent1">
              <a:lumMod val="20000"/>
              <a:lumOff val="80000"/>
            </a:schemeClr>
          </a:solidFill>
          <a:ln>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solidFill>
                  <a:srgbClr val="156082"/>
                </a:solidFill>
              </a:rPr>
              <a:t>10</a:t>
            </a:r>
          </a:p>
        </p:txBody>
      </p:sp>
      <p:grpSp>
        <p:nvGrpSpPr>
          <p:cNvPr id="79" name="Group 78">
            <a:extLst>
              <a:ext uri="{FF2B5EF4-FFF2-40B4-BE49-F238E27FC236}">
                <a16:creationId xmlns:a16="http://schemas.microsoft.com/office/drawing/2014/main" id="{7A93F137-3644-8900-0D2B-B82D2F2AFB75}"/>
              </a:ext>
            </a:extLst>
          </p:cNvPr>
          <p:cNvGrpSpPr/>
          <p:nvPr/>
        </p:nvGrpSpPr>
        <p:grpSpPr>
          <a:xfrm>
            <a:off x="1093238" y="905802"/>
            <a:ext cx="1808631" cy="817599"/>
            <a:chOff x="2635623" y="3429000"/>
            <a:chExt cx="1808631" cy="1789148"/>
          </a:xfrm>
        </p:grpSpPr>
        <p:sp>
          <p:nvSpPr>
            <p:cNvPr id="80" name="Rectangle 79">
              <a:extLst>
                <a:ext uri="{FF2B5EF4-FFF2-40B4-BE49-F238E27FC236}">
                  <a16:creationId xmlns:a16="http://schemas.microsoft.com/office/drawing/2014/main" id="{D1D686AE-32FD-7B00-0774-A2AC573477E0}"/>
                </a:ext>
              </a:extLst>
            </p:cNvPr>
            <p:cNvSpPr/>
            <p:nvPr/>
          </p:nvSpPr>
          <p:spPr>
            <a:xfrm>
              <a:off x="2635623" y="3429000"/>
              <a:ext cx="1808631" cy="13665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 Intro</a:t>
              </a:r>
            </a:p>
          </p:txBody>
        </p:sp>
        <p:sp>
          <p:nvSpPr>
            <p:cNvPr id="81" name="Down Arrow 80">
              <a:extLst>
                <a:ext uri="{FF2B5EF4-FFF2-40B4-BE49-F238E27FC236}">
                  <a16:creationId xmlns:a16="http://schemas.microsoft.com/office/drawing/2014/main" id="{FBD95417-38B2-480D-952C-13BE3FE87E7A}"/>
                </a:ext>
              </a:extLst>
            </p:cNvPr>
            <p:cNvSpPr/>
            <p:nvPr/>
          </p:nvSpPr>
          <p:spPr>
            <a:xfrm>
              <a:off x="3771898" y="4767821"/>
              <a:ext cx="430306" cy="4503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82" name="Rectangle 81">
            <a:extLst>
              <a:ext uri="{FF2B5EF4-FFF2-40B4-BE49-F238E27FC236}">
                <a16:creationId xmlns:a16="http://schemas.microsoft.com/office/drawing/2014/main" id="{FED1219A-D8B7-FC0F-2F61-8A2407F803A0}"/>
              </a:ext>
            </a:extLst>
          </p:cNvPr>
          <p:cNvSpPr/>
          <p:nvPr/>
        </p:nvSpPr>
        <p:spPr>
          <a:xfrm>
            <a:off x="9452136" y="5635531"/>
            <a:ext cx="1808631" cy="62449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Questionnaire</a:t>
            </a:r>
          </a:p>
        </p:txBody>
      </p:sp>
      <p:sp>
        <p:nvSpPr>
          <p:cNvPr id="83" name="Down Arrow 82">
            <a:extLst>
              <a:ext uri="{FF2B5EF4-FFF2-40B4-BE49-F238E27FC236}">
                <a16:creationId xmlns:a16="http://schemas.microsoft.com/office/drawing/2014/main" id="{419C64AC-68C9-D5F8-71F5-9CC8A3EC7125}"/>
              </a:ext>
            </a:extLst>
          </p:cNvPr>
          <p:cNvSpPr/>
          <p:nvPr/>
        </p:nvSpPr>
        <p:spPr>
          <a:xfrm>
            <a:off x="9391262" y="4736079"/>
            <a:ext cx="430306" cy="186758"/>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custDataLst>
      <p:tags r:id="rId1"/>
    </p:custDataLst>
    <p:extLst>
      <p:ext uri="{BB962C8B-B14F-4D97-AF65-F5344CB8AC3E}">
        <p14:creationId xmlns:p14="http://schemas.microsoft.com/office/powerpoint/2010/main" val="2521724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background with white text&#10;&#10;AI-generated content may be incorrect.">
            <a:extLst>
              <a:ext uri="{FF2B5EF4-FFF2-40B4-BE49-F238E27FC236}">
                <a16:creationId xmlns:a16="http://schemas.microsoft.com/office/drawing/2014/main" id="{53B8726E-C895-4A54-F039-41C9FFE1E535}"/>
              </a:ext>
            </a:extLst>
          </p:cNvPr>
          <p:cNvPicPr>
            <a:picLocks noChangeAspect="1"/>
          </p:cNvPicPr>
          <p:nvPr/>
        </p:nvPicPr>
        <p:blipFill>
          <a:blip r:embed="rId2"/>
          <a:srcRect l="24722" r="50255" b="85485"/>
          <a:stretch>
            <a:fillRect/>
          </a:stretch>
        </p:blipFill>
        <p:spPr>
          <a:xfrm>
            <a:off x="1" y="0"/>
            <a:ext cx="12192000" cy="963748"/>
          </a:xfrm>
          <a:prstGeom prst="rect">
            <a:avLst/>
          </a:prstGeom>
        </p:spPr>
      </p:pic>
      <p:grpSp>
        <p:nvGrpSpPr>
          <p:cNvPr id="4" name="Group 3">
            <a:extLst>
              <a:ext uri="{FF2B5EF4-FFF2-40B4-BE49-F238E27FC236}">
                <a16:creationId xmlns:a16="http://schemas.microsoft.com/office/drawing/2014/main" id="{30A71909-BCD5-353A-28D2-805E607714E7}"/>
              </a:ext>
            </a:extLst>
          </p:cNvPr>
          <p:cNvGrpSpPr/>
          <p:nvPr/>
        </p:nvGrpSpPr>
        <p:grpSpPr>
          <a:xfrm>
            <a:off x="4866969" y="230265"/>
            <a:ext cx="2384070" cy="1200329"/>
            <a:chOff x="2635623" y="3429000"/>
            <a:chExt cx="1808631" cy="1789148"/>
          </a:xfrm>
        </p:grpSpPr>
        <p:sp>
          <p:nvSpPr>
            <p:cNvPr id="5" name="Rectangle 4">
              <a:extLst>
                <a:ext uri="{FF2B5EF4-FFF2-40B4-BE49-F238E27FC236}">
                  <a16:creationId xmlns:a16="http://schemas.microsoft.com/office/drawing/2014/main" id="{A918A6B0-B011-157E-FCC1-DEB25B461D30}"/>
                </a:ext>
              </a:extLst>
            </p:cNvPr>
            <p:cNvSpPr/>
            <p:nvPr/>
          </p:nvSpPr>
          <p:spPr>
            <a:xfrm>
              <a:off x="2635623" y="3429000"/>
              <a:ext cx="1808631" cy="136658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 Intro</a:t>
              </a:r>
            </a:p>
          </p:txBody>
        </p:sp>
        <p:sp>
          <p:nvSpPr>
            <p:cNvPr id="6" name="Down Arrow 5">
              <a:extLst>
                <a:ext uri="{FF2B5EF4-FFF2-40B4-BE49-F238E27FC236}">
                  <a16:creationId xmlns:a16="http://schemas.microsoft.com/office/drawing/2014/main" id="{3EF9ED32-C19F-E226-2B4F-9A305F87BF0A}"/>
                </a:ext>
              </a:extLst>
            </p:cNvPr>
            <p:cNvSpPr/>
            <p:nvPr/>
          </p:nvSpPr>
          <p:spPr>
            <a:xfrm>
              <a:off x="3771898" y="4767821"/>
              <a:ext cx="430306" cy="450327"/>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7" name="TextBox 6">
            <a:extLst>
              <a:ext uri="{FF2B5EF4-FFF2-40B4-BE49-F238E27FC236}">
                <a16:creationId xmlns:a16="http://schemas.microsoft.com/office/drawing/2014/main" id="{3AD78C43-A436-C040-3E62-044CC8F641EC}"/>
              </a:ext>
            </a:extLst>
          </p:cNvPr>
          <p:cNvSpPr txBox="1"/>
          <p:nvPr/>
        </p:nvSpPr>
        <p:spPr>
          <a:xfrm>
            <a:off x="4638453" y="2355095"/>
            <a:ext cx="2915093" cy="1200329"/>
          </a:xfrm>
          <a:prstGeom prst="rect">
            <a:avLst/>
          </a:prstGeom>
          <a:noFill/>
        </p:spPr>
        <p:txBody>
          <a:bodyPr wrap="none" rtlCol="0">
            <a:spAutoFit/>
          </a:bodyPr>
          <a:lstStyle/>
          <a:p>
            <a:r>
              <a:rPr lang="en-US" noProof="1"/>
              <a:t>Welcome message (page 1)</a:t>
            </a:r>
          </a:p>
          <a:p>
            <a:r>
              <a:rPr lang="en-US" noProof="1"/>
              <a:t>Age (page 2)</a:t>
            </a:r>
          </a:p>
          <a:p>
            <a:r>
              <a:rPr lang="en-US" noProof="1"/>
              <a:t>Gender (page 2)</a:t>
            </a:r>
          </a:p>
          <a:p>
            <a:r>
              <a:rPr lang="en-US" noProof="1"/>
              <a:t>Agreement (page 3)</a:t>
            </a:r>
          </a:p>
        </p:txBody>
      </p:sp>
    </p:spTree>
    <p:extLst>
      <p:ext uri="{BB962C8B-B14F-4D97-AF65-F5344CB8AC3E}">
        <p14:creationId xmlns:p14="http://schemas.microsoft.com/office/powerpoint/2010/main" val="2335325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0A27C-E8E3-CC2F-8A57-BB290E95A667}"/>
            </a:ext>
          </a:extLst>
        </p:cNvPr>
        <p:cNvGrpSpPr/>
        <p:nvPr/>
      </p:nvGrpSpPr>
      <p:grpSpPr>
        <a:xfrm>
          <a:off x="0" y="0"/>
          <a:ext cx="0" cy="0"/>
          <a:chOff x="0" y="0"/>
          <a:chExt cx="0" cy="0"/>
        </a:xfrm>
      </p:grpSpPr>
      <p:pic>
        <p:nvPicPr>
          <p:cNvPr id="2" name="Picture 1" descr="A blue background with white text&#10;&#10;AI-generated content may be incorrect.">
            <a:extLst>
              <a:ext uri="{FF2B5EF4-FFF2-40B4-BE49-F238E27FC236}">
                <a16:creationId xmlns:a16="http://schemas.microsoft.com/office/drawing/2014/main" id="{FFAC51B7-4E33-E1DF-FC1E-B31541256E6C}"/>
              </a:ext>
            </a:extLst>
          </p:cNvPr>
          <p:cNvPicPr>
            <a:picLocks noChangeAspect="1"/>
          </p:cNvPicPr>
          <p:nvPr/>
        </p:nvPicPr>
        <p:blipFill>
          <a:blip r:embed="rId4"/>
          <a:srcRect l="24722" r="50255" b="85485"/>
          <a:stretch>
            <a:fillRect/>
          </a:stretch>
        </p:blipFill>
        <p:spPr>
          <a:xfrm>
            <a:off x="1" y="0"/>
            <a:ext cx="12192000" cy="963748"/>
          </a:xfrm>
          <a:prstGeom prst="rect">
            <a:avLst/>
          </a:prstGeom>
        </p:spPr>
      </p:pic>
      <p:grpSp>
        <p:nvGrpSpPr>
          <p:cNvPr id="6" name="Group 5">
            <a:extLst>
              <a:ext uri="{FF2B5EF4-FFF2-40B4-BE49-F238E27FC236}">
                <a16:creationId xmlns:a16="http://schemas.microsoft.com/office/drawing/2014/main" id="{DAB27F8D-3D24-8776-3C5D-E5CF0F786D0D}"/>
              </a:ext>
            </a:extLst>
          </p:cNvPr>
          <p:cNvGrpSpPr/>
          <p:nvPr/>
        </p:nvGrpSpPr>
        <p:grpSpPr>
          <a:xfrm>
            <a:off x="4682049" y="185446"/>
            <a:ext cx="2915093" cy="1128739"/>
            <a:chOff x="2635623" y="2748134"/>
            <a:chExt cx="1808631" cy="2470014"/>
          </a:xfrm>
        </p:grpSpPr>
        <p:sp>
          <p:nvSpPr>
            <p:cNvPr id="7" name="Rectangle 6">
              <a:extLst>
                <a:ext uri="{FF2B5EF4-FFF2-40B4-BE49-F238E27FC236}">
                  <a16:creationId xmlns:a16="http://schemas.microsoft.com/office/drawing/2014/main" id="{C52445AD-A378-D61F-339B-34025310C669}"/>
                </a:ext>
              </a:extLst>
            </p:cNvPr>
            <p:cNvSpPr/>
            <p:nvPr/>
          </p:nvSpPr>
          <p:spPr>
            <a:xfrm>
              <a:off x="2635623" y="2748134"/>
              <a:ext cx="1808631" cy="2047452"/>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a:t>
              </a:r>
            </a:p>
            <a:p>
              <a:pPr algn="ctr"/>
              <a:r>
                <a:rPr lang="en-US" noProof="1"/>
                <a:t>sensitivity </a:t>
              </a:r>
            </a:p>
            <a:p>
              <a:pPr algn="ctr"/>
              <a:r>
                <a:rPr lang="en-US" noProof="1"/>
                <a:t>(AUD or VIS)</a:t>
              </a:r>
            </a:p>
          </p:txBody>
        </p:sp>
        <p:sp>
          <p:nvSpPr>
            <p:cNvPr id="8" name="Down Arrow 7">
              <a:extLst>
                <a:ext uri="{FF2B5EF4-FFF2-40B4-BE49-F238E27FC236}">
                  <a16:creationId xmlns:a16="http://schemas.microsoft.com/office/drawing/2014/main" id="{1CE9E727-07BC-7FBE-4FD9-7B7056699E03}"/>
                </a:ext>
              </a:extLst>
            </p:cNvPr>
            <p:cNvSpPr/>
            <p:nvPr/>
          </p:nvSpPr>
          <p:spPr>
            <a:xfrm>
              <a:off x="3771898" y="4767821"/>
              <a:ext cx="430306" cy="450327"/>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9" name="Group 8">
            <a:extLst>
              <a:ext uri="{FF2B5EF4-FFF2-40B4-BE49-F238E27FC236}">
                <a16:creationId xmlns:a16="http://schemas.microsoft.com/office/drawing/2014/main" id="{5109FB44-0E50-CB54-3B2E-7B6734CF0693}"/>
              </a:ext>
            </a:extLst>
          </p:cNvPr>
          <p:cNvGrpSpPr/>
          <p:nvPr/>
        </p:nvGrpSpPr>
        <p:grpSpPr>
          <a:xfrm>
            <a:off x="1559383" y="1511470"/>
            <a:ext cx="1808631" cy="817599"/>
            <a:chOff x="2635623" y="3429000"/>
            <a:chExt cx="1808631" cy="1789148"/>
          </a:xfrm>
        </p:grpSpPr>
        <p:sp>
          <p:nvSpPr>
            <p:cNvPr id="10" name="Rectangle 9">
              <a:extLst>
                <a:ext uri="{FF2B5EF4-FFF2-40B4-BE49-F238E27FC236}">
                  <a16:creationId xmlns:a16="http://schemas.microsoft.com/office/drawing/2014/main" id="{3BFFB90E-8C62-96FD-03EA-71E31B5908CC}"/>
                </a:ext>
              </a:extLst>
            </p:cNvPr>
            <p:cNvSpPr/>
            <p:nvPr/>
          </p:nvSpPr>
          <p:spPr>
            <a:xfrm>
              <a:off x="2635623" y="3429000"/>
              <a:ext cx="1808631" cy="136658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Familiarization </a:t>
              </a:r>
            </a:p>
          </p:txBody>
        </p:sp>
        <p:sp>
          <p:nvSpPr>
            <p:cNvPr id="13" name="Down Arrow 12">
              <a:extLst>
                <a:ext uri="{FF2B5EF4-FFF2-40B4-BE49-F238E27FC236}">
                  <a16:creationId xmlns:a16="http://schemas.microsoft.com/office/drawing/2014/main" id="{854B6213-3452-F62E-8719-EF98DC722BB9}"/>
                </a:ext>
              </a:extLst>
            </p:cNvPr>
            <p:cNvSpPr/>
            <p:nvPr/>
          </p:nvSpPr>
          <p:spPr>
            <a:xfrm>
              <a:off x="3771898" y="4767821"/>
              <a:ext cx="430306" cy="4503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2" name="Group 21">
            <a:extLst>
              <a:ext uri="{FF2B5EF4-FFF2-40B4-BE49-F238E27FC236}">
                <a16:creationId xmlns:a16="http://schemas.microsoft.com/office/drawing/2014/main" id="{62A9E511-E844-0D9E-A396-7CA5197B3600}"/>
              </a:ext>
            </a:extLst>
          </p:cNvPr>
          <p:cNvGrpSpPr/>
          <p:nvPr/>
        </p:nvGrpSpPr>
        <p:grpSpPr>
          <a:xfrm>
            <a:off x="2449835" y="2822893"/>
            <a:ext cx="1573305" cy="723242"/>
            <a:chOff x="2635623" y="3164168"/>
            <a:chExt cx="1573305" cy="1582667"/>
          </a:xfrm>
        </p:grpSpPr>
        <p:sp>
          <p:nvSpPr>
            <p:cNvPr id="23" name="Rectangle 22">
              <a:extLst>
                <a:ext uri="{FF2B5EF4-FFF2-40B4-BE49-F238E27FC236}">
                  <a16:creationId xmlns:a16="http://schemas.microsoft.com/office/drawing/2014/main" id="{480EFAB5-963C-8FE5-CC90-8AD84546353F}"/>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practice</a:t>
              </a:r>
            </a:p>
          </p:txBody>
        </p:sp>
        <p:sp>
          <p:nvSpPr>
            <p:cNvPr id="24" name="Down Arrow 23">
              <a:extLst>
                <a:ext uri="{FF2B5EF4-FFF2-40B4-BE49-F238E27FC236}">
                  <a16:creationId xmlns:a16="http://schemas.microsoft.com/office/drawing/2014/main" id="{9A0D8896-491E-6365-D503-9709D87D2D7A}"/>
                </a:ext>
              </a:extLst>
            </p:cNvPr>
            <p:cNvSpPr/>
            <p:nvPr/>
          </p:nvSpPr>
          <p:spPr>
            <a:xfrm>
              <a:off x="3536577" y="4343399"/>
              <a:ext cx="430306" cy="40343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26" name="Rectangle 25">
            <a:extLst>
              <a:ext uri="{FF2B5EF4-FFF2-40B4-BE49-F238E27FC236}">
                <a16:creationId xmlns:a16="http://schemas.microsoft.com/office/drawing/2014/main" id="{14A7C5FE-6406-802B-CA72-0D994066BFE2}"/>
              </a:ext>
            </a:extLst>
          </p:cNvPr>
          <p:cNvSpPr/>
          <p:nvPr/>
        </p:nvSpPr>
        <p:spPr>
          <a:xfrm>
            <a:off x="3350789" y="4221396"/>
            <a:ext cx="1573305" cy="5388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a:t>
            </a:r>
          </a:p>
          <a:p>
            <a:pPr algn="ctr"/>
            <a:r>
              <a:rPr lang="en-US" noProof="1"/>
              <a:t>test 1-2</a:t>
            </a:r>
          </a:p>
        </p:txBody>
      </p:sp>
      <p:sp>
        <p:nvSpPr>
          <p:cNvPr id="28" name="TextBox 27">
            <a:extLst>
              <a:ext uri="{FF2B5EF4-FFF2-40B4-BE49-F238E27FC236}">
                <a16:creationId xmlns:a16="http://schemas.microsoft.com/office/drawing/2014/main" id="{0B9F9515-7E49-FF6C-F711-EECEF85E4D56}"/>
              </a:ext>
            </a:extLst>
          </p:cNvPr>
          <p:cNvSpPr txBox="1"/>
          <p:nvPr/>
        </p:nvSpPr>
        <p:spPr>
          <a:xfrm>
            <a:off x="3781095" y="1362053"/>
            <a:ext cx="4819846" cy="1200329"/>
          </a:xfrm>
          <a:prstGeom prst="rect">
            <a:avLst/>
          </a:prstGeom>
          <a:noFill/>
        </p:spPr>
        <p:txBody>
          <a:bodyPr wrap="none" rtlCol="0">
            <a:spAutoFit/>
          </a:bodyPr>
          <a:lstStyle/>
          <a:p>
            <a:r>
              <a:rPr lang="en-US" noProof="1"/>
              <a:t>Instruction</a:t>
            </a:r>
          </a:p>
          <a:p>
            <a:r>
              <a:rPr lang="en-US" noProof="1"/>
              <a:t>Playing of sound or video – passively, just listen</a:t>
            </a:r>
          </a:p>
          <a:p>
            <a:r>
              <a:rPr lang="en-US" i="1" noProof="1"/>
              <a:t>(this file can be identical across participants)</a:t>
            </a:r>
          </a:p>
          <a:p>
            <a:r>
              <a:rPr lang="en-US" noProof="1"/>
              <a:t>Do you want to repeat and listen again?</a:t>
            </a:r>
          </a:p>
        </p:txBody>
      </p:sp>
      <p:sp>
        <p:nvSpPr>
          <p:cNvPr id="29" name="TextBox 28">
            <a:extLst>
              <a:ext uri="{FF2B5EF4-FFF2-40B4-BE49-F238E27FC236}">
                <a16:creationId xmlns:a16="http://schemas.microsoft.com/office/drawing/2014/main" id="{FD9AF09E-8D77-E312-C49C-5B60C527DB8A}"/>
              </a:ext>
            </a:extLst>
          </p:cNvPr>
          <p:cNvSpPr txBox="1"/>
          <p:nvPr/>
        </p:nvSpPr>
        <p:spPr>
          <a:xfrm>
            <a:off x="4466896" y="2646463"/>
            <a:ext cx="7134004" cy="1200329"/>
          </a:xfrm>
          <a:prstGeom prst="rect">
            <a:avLst/>
          </a:prstGeom>
          <a:noFill/>
        </p:spPr>
        <p:txBody>
          <a:bodyPr wrap="none" rtlCol="0">
            <a:spAutoFit/>
          </a:bodyPr>
          <a:lstStyle/>
          <a:p>
            <a:r>
              <a:rPr lang="en-US" noProof="1"/>
              <a:t>Instruction</a:t>
            </a:r>
          </a:p>
          <a:p>
            <a:r>
              <a:rPr lang="en-US" noProof="1"/>
              <a:t>Playing of sound or video - go/no go, press space bar as per instruction</a:t>
            </a:r>
          </a:p>
          <a:p>
            <a:r>
              <a:rPr lang="en-US" i="1" noProof="1"/>
              <a:t>(this file can be identical across participants)</a:t>
            </a:r>
            <a:endParaRPr lang="en-US" noProof="1"/>
          </a:p>
          <a:p>
            <a:r>
              <a:rPr lang="en-US" noProof="1"/>
              <a:t>Do you want to repeat and practice again?</a:t>
            </a:r>
          </a:p>
        </p:txBody>
      </p:sp>
      <p:sp>
        <p:nvSpPr>
          <p:cNvPr id="30" name="TextBox 29">
            <a:extLst>
              <a:ext uri="{FF2B5EF4-FFF2-40B4-BE49-F238E27FC236}">
                <a16:creationId xmlns:a16="http://schemas.microsoft.com/office/drawing/2014/main" id="{6A94D96A-8A51-28F0-9FFF-756BA7C7203D}"/>
              </a:ext>
            </a:extLst>
          </p:cNvPr>
          <p:cNvSpPr txBox="1"/>
          <p:nvPr/>
        </p:nvSpPr>
        <p:spPr>
          <a:xfrm>
            <a:off x="5134940" y="4039744"/>
            <a:ext cx="7057060" cy="923330"/>
          </a:xfrm>
          <a:prstGeom prst="rect">
            <a:avLst/>
          </a:prstGeom>
          <a:noFill/>
        </p:spPr>
        <p:txBody>
          <a:bodyPr wrap="none" rtlCol="0">
            <a:spAutoFit/>
          </a:bodyPr>
          <a:lstStyle/>
          <a:p>
            <a:r>
              <a:rPr lang="en-US" noProof="1"/>
              <a:t>Instruction</a:t>
            </a:r>
          </a:p>
          <a:p>
            <a:r>
              <a:rPr lang="en-US" noProof="1"/>
              <a:t>Playing of sound or video - go/no go, press space bar as per instuction</a:t>
            </a:r>
          </a:p>
          <a:p>
            <a:r>
              <a:rPr lang="en-US" noProof="1"/>
              <a:t>Repeat this as many times as test conditions exist.</a:t>
            </a:r>
            <a:r>
              <a:rPr lang="en-US" noProof="1">
                <a:solidFill>
                  <a:schemeClr val="accent5"/>
                </a:solidFill>
              </a:rPr>
              <a:t>**</a:t>
            </a:r>
          </a:p>
        </p:txBody>
      </p:sp>
      <p:sp>
        <p:nvSpPr>
          <p:cNvPr id="31" name="Left Brace 30">
            <a:extLst>
              <a:ext uri="{FF2B5EF4-FFF2-40B4-BE49-F238E27FC236}">
                <a16:creationId xmlns:a16="http://schemas.microsoft.com/office/drawing/2014/main" id="{265C18E8-3297-34DA-A46E-5DBDDAC1E1B4}"/>
              </a:ext>
            </a:extLst>
          </p:cNvPr>
          <p:cNvSpPr/>
          <p:nvPr/>
        </p:nvSpPr>
        <p:spPr>
          <a:xfrm>
            <a:off x="870155" y="1108396"/>
            <a:ext cx="689228" cy="385467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HU"/>
          </a:p>
        </p:txBody>
      </p:sp>
      <p:sp>
        <p:nvSpPr>
          <p:cNvPr id="32" name="TextBox 31">
            <a:extLst>
              <a:ext uri="{FF2B5EF4-FFF2-40B4-BE49-F238E27FC236}">
                <a16:creationId xmlns:a16="http://schemas.microsoft.com/office/drawing/2014/main" id="{FA2D3D24-BBC4-2066-422C-AC149540329B}"/>
              </a:ext>
            </a:extLst>
          </p:cNvPr>
          <p:cNvSpPr txBox="1"/>
          <p:nvPr/>
        </p:nvSpPr>
        <p:spPr>
          <a:xfrm rot="16200000">
            <a:off x="-495247" y="2934855"/>
            <a:ext cx="2314608" cy="369332"/>
          </a:xfrm>
          <a:prstGeom prst="rect">
            <a:avLst/>
          </a:prstGeom>
          <a:noFill/>
        </p:spPr>
        <p:txBody>
          <a:bodyPr wrap="none" rtlCol="0">
            <a:spAutoFit/>
          </a:bodyPr>
          <a:lstStyle/>
          <a:p>
            <a:r>
              <a:rPr lang="en-US" noProof="1"/>
              <a:t>Repeat in modality 2</a:t>
            </a:r>
            <a:r>
              <a:rPr lang="en-US" noProof="1">
                <a:solidFill>
                  <a:schemeClr val="accent6"/>
                </a:solidFill>
              </a:rPr>
              <a:t>*</a:t>
            </a:r>
          </a:p>
        </p:txBody>
      </p:sp>
      <p:sp>
        <p:nvSpPr>
          <p:cNvPr id="33" name="TextBox 32">
            <a:extLst>
              <a:ext uri="{FF2B5EF4-FFF2-40B4-BE49-F238E27FC236}">
                <a16:creationId xmlns:a16="http://schemas.microsoft.com/office/drawing/2014/main" id="{5207087D-08AC-0842-95F9-078A5A84D35F}"/>
              </a:ext>
            </a:extLst>
          </p:cNvPr>
          <p:cNvSpPr txBox="1"/>
          <p:nvPr/>
        </p:nvSpPr>
        <p:spPr>
          <a:xfrm>
            <a:off x="103239" y="5091443"/>
            <a:ext cx="12088761" cy="1815882"/>
          </a:xfrm>
          <a:prstGeom prst="rect">
            <a:avLst/>
          </a:prstGeom>
          <a:noFill/>
        </p:spPr>
        <p:txBody>
          <a:bodyPr wrap="square" rtlCol="0">
            <a:spAutoFit/>
          </a:bodyPr>
          <a:lstStyle/>
          <a:p>
            <a:r>
              <a:rPr lang="en-US" sz="1600" noProof="1">
                <a:solidFill>
                  <a:schemeClr val="accent6"/>
                </a:solidFill>
              </a:rPr>
              <a:t>*</a:t>
            </a:r>
            <a:r>
              <a:rPr lang="en-US" sz="1600" noProof="1"/>
              <a:t>Modality order is randomized, but in one participant, it is always the same. If the baseline starts with AUD, then the pattern (next slide) starts with AUD as well.</a:t>
            </a:r>
          </a:p>
          <a:p>
            <a:r>
              <a:rPr lang="en-US" sz="1600" noProof="1">
                <a:solidFill>
                  <a:schemeClr val="accent5"/>
                </a:solidFill>
              </a:rPr>
              <a:t>**</a:t>
            </a:r>
            <a:r>
              <a:rPr lang="en-US" sz="1600" noProof="1"/>
              <a:t> Test files follow naming rules. Eg. xy1_345, xy1_346, xy1_347 … and then exactly the same identifiers for xy2_345, xy2_346,… - same for the pattern sensitivity as well (xy3_345, xy3_346, xy3_347,…). Each participants gets a random number (between one and the total number of test variations). This number will be applied to select the input file for each test. If it is 3, then it will be the 3rd file in the lists of testvariations. Here, that would be: xy1_347, xy2_347, yx3_347, yx4_347,.. Stiminfo files are avaiéable according to the test file convention, so the log file should have this stored. That is: the name of the file, that was played. </a:t>
            </a:r>
          </a:p>
        </p:txBody>
      </p:sp>
    </p:spTree>
    <p:custDataLst>
      <p:tags r:id="rId1"/>
    </p:custDataLst>
    <p:extLst>
      <p:ext uri="{BB962C8B-B14F-4D97-AF65-F5344CB8AC3E}">
        <p14:creationId xmlns:p14="http://schemas.microsoft.com/office/powerpoint/2010/main" val="3797430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1D9EF-46EE-5BFB-681C-A613EE47A477}"/>
            </a:ext>
          </a:extLst>
        </p:cNvPr>
        <p:cNvGrpSpPr/>
        <p:nvPr/>
      </p:nvGrpSpPr>
      <p:grpSpPr>
        <a:xfrm>
          <a:off x="0" y="0"/>
          <a:ext cx="0" cy="0"/>
          <a:chOff x="0" y="0"/>
          <a:chExt cx="0" cy="0"/>
        </a:xfrm>
      </p:grpSpPr>
      <p:pic>
        <p:nvPicPr>
          <p:cNvPr id="2" name="Picture 1" descr="A blue background with white text&#10;&#10;AI-generated content may be incorrect.">
            <a:extLst>
              <a:ext uri="{FF2B5EF4-FFF2-40B4-BE49-F238E27FC236}">
                <a16:creationId xmlns:a16="http://schemas.microsoft.com/office/drawing/2014/main" id="{1FED5CF7-E197-D077-86CF-18952C360035}"/>
              </a:ext>
            </a:extLst>
          </p:cNvPr>
          <p:cNvPicPr>
            <a:picLocks noChangeAspect="1"/>
          </p:cNvPicPr>
          <p:nvPr/>
        </p:nvPicPr>
        <p:blipFill>
          <a:blip r:embed="rId4"/>
          <a:srcRect l="24722" r="50255" b="85485"/>
          <a:stretch>
            <a:fillRect/>
          </a:stretch>
        </p:blipFill>
        <p:spPr>
          <a:xfrm>
            <a:off x="1" y="0"/>
            <a:ext cx="12192000" cy="963748"/>
          </a:xfrm>
          <a:prstGeom prst="rect">
            <a:avLst/>
          </a:prstGeom>
        </p:spPr>
      </p:pic>
      <p:grpSp>
        <p:nvGrpSpPr>
          <p:cNvPr id="6" name="Group 5">
            <a:extLst>
              <a:ext uri="{FF2B5EF4-FFF2-40B4-BE49-F238E27FC236}">
                <a16:creationId xmlns:a16="http://schemas.microsoft.com/office/drawing/2014/main" id="{B4CAB4D1-19B0-86FF-F7BB-85858F020646}"/>
              </a:ext>
            </a:extLst>
          </p:cNvPr>
          <p:cNvGrpSpPr/>
          <p:nvPr/>
        </p:nvGrpSpPr>
        <p:grpSpPr>
          <a:xfrm>
            <a:off x="4682049" y="185446"/>
            <a:ext cx="2915093" cy="1128739"/>
            <a:chOff x="2635623" y="2748134"/>
            <a:chExt cx="1808631" cy="2470014"/>
          </a:xfrm>
        </p:grpSpPr>
        <p:sp>
          <p:nvSpPr>
            <p:cNvPr id="7" name="Rectangle 6">
              <a:extLst>
                <a:ext uri="{FF2B5EF4-FFF2-40B4-BE49-F238E27FC236}">
                  <a16:creationId xmlns:a16="http://schemas.microsoft.com/office/drawing/2014/main" id="{EAF6100E-FC02-5179-DEE0-0F847965CB43}"/>
                </a:ext>
              </a:extLst>
            </p:cNvPr>
            <p:cNvSpPr/>
            <p:nvPr/>
          </p:nvSpPr>
          <p:spPr>
            <a:xfrm>
              <a:off x="2635623" y="2748134"/>
              <a:ext cx="1808631" cy="2047452"/>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Pattern </a:t>
              </a:r>
            </a:p>
            <a:p>
              <a:pPr algn="ctr"/>
              <a:r>
                <a:rPr lang="en-US" noProof="1"/>
                <a:t>sensitivity </a:t>
              </a:r>
            </a:p>
            <a:p>
              <a:pPr algn="ctr"/>
              <a:r>
                <a:rPr lang="en-US" noProof="1"/>
                <a:t>(AUD or VIS)</a:t>
              </a:r>
            </a:p>
          </p:txBody>
        </p:sp>
        <p:sp>
          <p:nvSpPr>
            <p:cNvPr id="8" name="Down Arrow 7">
              <a:extLst>
                <a:ext uri="{FF2B5EF4-FFF2-40B4-BE49-F238E27FC236}">
                  <a16:creationId xmlns:a16="http://schemas.microsoft.com/office/drawing/2014/main" id="{342CBC0E-80FC-9FCC-F733-5D1FF87E5D97}"/>
                </a:ext>
              </a:extLst>
            </p:cNvPr>
            <p:cNvSpPr/>
            <p:nvPr/>
          </p:nvSpPr>
          <p:spPr>
            <a:xfrm>
              <a:off x="3771898" y="4767821"/>
              <a:ext cx="430306" cy="450327"/>
            </a:xfrm>
            <a:prstGeom prst="downArrow">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2" name="Group 21">
            <a:extLst>
              <a:ext uri="{FF2B5EF4-FFF2-40B4-BE49-F238E27FC236}">
                <a16:creationId xmlns:a16="http://schemas.microsoft.com/office/drawing/2014/main" id="{92CC4BC9-2E3E-1F56-5574-AF4061F40E2A}"/>
              </a:ext>
            </a:extLst>
          </p:cNvPr>
          <p:cNvGrpSpPr/>
          <p:nvPr/>
        </p:nvGrpSpPr>
        <p:grpSpPr>
          <a:xfrm>
            <a:off x="1740825" y="1697963"/>
            <a:ext cx="1573305" cy="723242"/>
            <a:chOff x="2635623" y="3164168"/>
            <a:chExt cx="1573305" cy="1582667"/>
          </a:xfrm>
        </p:grpSpPr>
        <p:sp>
          <p:nvSpPr>
            <p:cNvPr id="23" name="Rectangle 22">
              <a:extLst>
                <a:ext uri="{FF2B5EF4-FFF2-40B4-BE49-F238E27FC236}">
                  <a16:creationId xmlns:a16="http://schemas.microsoft.com/office/drawing/2014/main" id="{36164149-ABF4-6862-FDE6-65DE97D459BA}"/>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 practice</a:t>
              </a:r>
            </a:p>
          </p:txBody>
        </p:sp>
        <p:sp>
          <p:nvSpPr>
            <p:cNvPr id="24" name="Down Arrow 23">
              <a:extLst>
                <a:ext uri="{FF2B5EF4-FFF2-40B4-BE49-F238E27FC236}">
                  <a16:creationId xmlns:a16="http://schemas.microsoft.com/office/drawing/2014/main" id="{80F8185C-210D-CED8-44E8-EEC5285FF4BE}"/>
                </a:ext>
              </a:extLst>
            </p:cNvPr>
            <p:cNvSpPr/>
            <p:nvPr/>
          </p:nvSpPr>
          <p:spPr>
            <a:xfrm>
              <a:off x="3536577" y="4343399"/>
              <a:ext cx="430306" cy="40343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grpSp>
        <p:nvGrpSpPr>
          <p:cNvPr id="25" name="Group 24">
            <a:extLst>
              <a:ext uri="{FF2B5EF4-FFF2-40B4-BE49-F238E27FC236}">
                <a16:creationId xmlns:a16="http://schemas.microsoft.com/office/drawing/2014/main" id="{B0A4B4FE-CFE8-5B11-6698-1AC4A70CED99}"/>
              </a:ext>
            </a:extLst>
          </p:cNvPr>
          <p:cNvGrpSpPr/>
          <p:nvPr/>
        </p:nvGrpSpPr>
        <p:grpSpPr>
          <a:xfrm>
            <a:off x="2641779" y="3361936"/>
            <a:ext cx="1573305" cy="741678"/>
            <a:chOff x="2635623" y="3164168"/>
            <a:chExt cx="1573305" cy="1623011"/>
          </a:xfrm>
        </p:grpSpPr>
        <p:sp>
          <p:nvSpPr>
            <p:cNvPr id="26" name="Rectangle 25">
              <a:extLst>
                <a:ext uri="{FF2B5EF4-FFF2-40B4-BE49-F238E27FC236}">
                  <a16:creationId xmlns:a16="http://schemas.microsoft.com/office/drawing/2014/main" id="{9C7736A7-D5B3-BAD5-D456-5EA242D67412}"/>
                </a:ext>
              </a:extLst>
            </p:cNvPr>
            <p:cNvSpPr/>
            <p:nvPr/>
          </p:nvSpPr>
          <p:spPr>
            <a:xfrm>
              <a:off x="2635623" y="3164168"/>
              <a:ext cx="1573305" cy="11792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Baseline</a:t>
              </a:r>
            </a:p>
            <a:p>
              <a:pPr algn="ctr"/>
              <a:r>
                <a:rPr lang="en-US" noProof="1"/>
                <a:t>test 1-2</a:t>
              </a:r>
            </a:p>
          </p:txBody>
        </p:sp>
        <p:sp>
          <p:nvSpPr>
            <p:cNvPr id="27" name="Down Arrow 26">
              <a:extLst>
                <a:ext uri="{FF2B5EF4-FFF2-40B4-BE49-F238E27FC236}">
                  <a16:creationId xmlns:a16="http://schemas.microsoft.com/office/drawing/2014/main" id="{1804EC0D-2796-43F1-361D-F4F8DA09A558}"/>
                </a:ext>
              </a:extLst>
            </p:cNvPr>
            <p:cNvSpPr/>
            <p:nvPr/>
          </p:nvSpPr>
          <p:spPr>
            <a:xfrm>
              <a:off x="3536577" y="4343399"/>
              <a:ext cx="430306" cy="443780"/>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sp>
        <p:nvSpPr>
          <p:cNvPr id="29" name="TextBox 28">
            <a:extLst>
              <a:ext uri="{FF2B5EF4-FFF2-40B4-BE49-F238E27FC236}">
                <a16:creationId xmlns:a16="http://schemas.microsoft.com/office/drawing/2014/main" id="{60DA441B-788E-1945-371E-86F7F8CBF8BD}"/>
              </a:ext>
            </a:extLst>
          </p:cNvPr>
          <p:cNvSpPr txBox="1"/>
          <p:nvPr/>
        </p:nvSpPr>
        <p:spPr>
          <a:xfrm>
            <a:off x="3757886" y="1521533"/>
            <a:ext cx="7134004" cy="1200329"/>
          </a:xfrm>
          <a:prstGeom prst="rect">
            <a:avLst/>
          </a:prstGeom>
          <a:noFill/>
        </p:spPr>
        <p:txBody>
          <a:bodyPr wrap="none" rtlCol="0">
            <a:spAutoFit/>
          </a:bodyPr>
          <a:lstStyle/>
          <a:p>
            <a:r>
              <a:rPr lang="en-US" noProof="1"/>
              <a:t>Instruction</a:t>
            </a:r>
          </a:p>
          <a:p>
            <a:r>
              <a:rPr lang="en-US" noProof="1"/>
              <a:t>Playing of sound or video - go/no go, press space bar as per instruction</a:t>
            </a:r>
          </a:p>
          <a:p>
            <a:r>
              <a:rPr lang="en-US" i="1" noProof="1"/>
              <a:t>(this file can be identical across participants)</a:t>
            </a:r>
            <a:endParaRPr lang="en-US" noProof="1"/>
          </a:p>
          <a:p>
            <a:r>
              <a:rPr lang="en-US" noProof="1"/>
              <a:t>Do you want to repeat and practice again?</a:t>
            </a:r>
          </a:p>
        </p:txBody>
      </p:sp>
      <p:sp>
        <p:nvSpPr>
          <p:cNvPr id="30" name="TextBox 29">
            <a:extLst>
              <a:ext uri="{FF2B5EF4-FFF2-40B4-BE49-F238E27FC236}">
                <a16:creationId xmlns:a16="http://schemas.microsoft.com/office/drawing/2014/main" id="{6C22AADC-AB7E-C102-4368-254CFBF0A67C}"/>
              </a:ext>
            </a:extLst>
          </p:cNvPr>
          <p:cNvSpPr txBox="1"/>
          <p:nvPr/>
        </p:nvSpPr>
        <p:spPr>
          <a:xfrm>
            <a:off x="4425930" y="3180284"/>
            <a:ext cx="7057060" cy="923330"/>
          </a:xfrm>
          <a:prstGeom prst="rect">
            <a:avLst/>
          </a:prstGeom>
          <a:noFill/>
        </p:spPr>
        <p:txBody>
          <a:bodyPr wrap="none" rtlCol="0">
            <a:spAutoFit/>
          </a:bodyPr>
          <a:lstStyle/>
          <a:p>
            <a:r>
              <a:rPr lang="en-US" noProof="1"/>
              <a:t>Instruction</a:t>
            </a:r>
          </a:p>
          <a:p>
            <a:r>
              <a:rPr lang="en-US" noProof="1"/>
              <a:t>Playing of sound or video - go/no go, press space bar as per instuction</a:t>
            </a:r>
          </a:p>
          <a:p>
            <a:r>
              <a:rPr lang="en-US" noProof="1"/>
              <a:t>Repeat this as many times as test conditions exist.</a:t>
            </a:r>
            <a:r>
              <a:rPr lang="en-US" noProof="1">
                <a:solidFill>
                  <a:schemeClr val="accent5"/>
                </a:solidFill>
              </a:rPr>
              <a:t>**</a:t>
            </a:r>
          </a:p>
        </p:txBody>
      </p:sp>
      <p:sp>
        <p:nvSpPr>
          <p:cNvPr id="31" name="Left Brace 30">
            <a:extLst>
              <a:ext uri="{FF2B5EF4-FFF2-40B4-BE49-F238E27FC236}">
                <a16:creationId xmlns:a16="http://schemas.microsoft.com/office/drawing/2014/main" id="{87FBC309-6B48-BE3D-3E7F-1466D7BF105E}"/>
              </a:ext>
            </a:extLst>
          </p:cNvPr>
          <p:cNvSpPr/>
          <p:nvPr/>
        </p:nvSpPr>
        <p:spPr>
          <a:xfrm>
            <a:off x="915174" y="1265732"/>
            <a:ext cx="614805" cy="3217963"/>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HU"/>
          </a:p>
        </p:txBody>
      </p:sp>
      <p:sp>
        <p:nvSpPr>
          <p:cNvPr id="32" name="TextBox 31">
            <a:extLst>
              <a:ext uri="{FF2B5EF4-FFF2-40B4-BE49-F238E27FC236}">
                <a16:creationId xmlns:a16="http://schemas.microsoft.com/office/drawing/2014/main" id="{5B444A2D-FC56-936D-E211-24E1740CF3D1}"/>
              </a:ext>
            </a:extLst>
          </p:cNvPr>
          <p:cNvSpPr txBox="1"/>
          <p:nvPr/>
        </p:nvSpPr>
        <p:spPr>
          <a:xfrm rot="16200000">
            <a:off x="-639410" y="2665116"/>
            <a:ext cx="2314608" cy="369332"/>
          </a:xfrm>
          <a:prstGeom prst="rect">
            <a:avLst/>
          </a:prstGeom>
          <a:noFill/>
        </p:spPr>
        <p:txBody>
          <a:bodyPr wrap="none" rtlCol="0">
            <a:spAutoFit/>
          </a:bodyPr>
          <a:lstStyle/>
          <a:p>
            <a:r>
              <a:rPr lang="en-US" noProof="1"/>
              <a:t>Repeat in modality 2</a:t>
            </a:r>
            <a:r>
              <a:rPr lang="en-US" noProof="1">
                <a:solidFill>
                  <a:schemeClr val="accent6"/>
                </a:solidFill>
              </a:rPr>
              <a:t>*</a:t>
            </a:r>
          </a:p>
        </p:txBody>
      </p:sp>
      <p:sp>
        <p:nvSpPr>
          <p:cNvPr id="3" name="TextBox 2">
            <a:extLst>
              <a:ext uri="{FF2B5EF4-FFF2-40B4-BE49-F238E27FC236}">
                <a16:creationId xmlns:a16="http://schemas.microsoft.com/office/drawing/2014/main" id="{1ADEE976-F4CB-B901-61EB-515DA43B89C3}"/>
              </a:ext>
            </a:extLst>
          </p:cNvPr>
          <p:cNvSpPr txBox="1"/>
          <p:nvPr/>
        </p:nvSpPr>
        <p:spPr>
          <a:xfrm>
            <a:off x="0" y="4615232"/>
            <a:ext cx="12191999" cy="2585323"/>
          </a:xfrm>
          <a:prstGeom prst="rect">
            <a:avLst/>
          </a:prstGeom>
          <a:noFill/>
        </p:spPr>
        <p:txBody>
          <a:bodyPr wrap="square" rtlCol="0">
            <a:spAutoFit/>
          </a:bodyPr>
          <a:lstStyle/>
          <a:p>
            <a:r>
              <a:rPr lang="en-US" noProof="1">
                <a:solidFill>
                  <a:schemeClr val="accent6"/>
                </a:solidFill>
              </a:rPr>
              <a:t>*</a:t>
            </a:r>
            <a:r>
              <a:rPr lang="en-US" noProof="1"/>
              <a:t>Modality order is randomized, but in one participant, it is always the same. If the baseline (previous slide) starts with AUD, then the pattern starts with AUD as well.</a:t>
            </a:r>
          </a:p>
          <a:p>
            <a:r>
              <a:rPr lang="en-US" noProof="1">
                <a:solidFill>
                  <a:schemeClr val="accent5"/>
                </a:solidFill>
              </a:rPr>
              <a:t>**</a:t>
            </a:r>
            <a:r>
              <a:rPr lang="en-US" noProof="1"/>
              <a:t> Test files follow naming rules. Eg. xy3_345, xy3_346, xy3_347 … and then exactly the same identifiers for xy4_345, xy4_346,… - same for the baseline sensitivity as well (xy1_345, xy1_346, xy1_347,…). Each participants gets a random number (between one and the total number of test variations for one test type, eg xy3). This number will be applied to select the input file for each test type. If it is 3, then it will present the 3rd file from the lists of testvariations. Here, that would be: xy1_347, xy2_347, yx3_347, yx4_347,.. Stiminfo files are available according to the test file convention, so the log file should have this stored. That is: the name of the file, that was played in each occasion. </a:t>
            </a:r>
          </a:p>
          <a:p>
            <a:endParaRPr lang="en-US" noProof="1"/>
          </a:p>
        </p:txBody>
      </p:sp>
    </p:spTree>
    <p:custDataLst>
      <p:tags r:id="rId1"/>
    </p:custDataLst>
    <p:extLst>
      <p:ext uri="{BB962C8B-B14F-4D97-AF65-F5344CB8AC3E}">
        <p14:creationId xmlns:p14="http://schemas.microsoft.com/office/powerpoint/2010/main" val="13312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3B720-8B8B-B8E3-E31D-6014FB766DB5}"/>
            </a:ext>
          </a:extLst>
        </p:cNvPr>
        <p:cNvGrpSpPr/>
        <p:nvPr/>
      </p:nvGrpSpPr>
      <p:grpSpPr>
        <a:xfrm>
          <a:off x="0" y="0"/>
          <a:ext cx="0" cy="0"/>
          <a:chOff x="0" y="0"/>
          <a:chExt cx="0" cy="0"/>
        </a:xfrm>
      </p:grpSpPr>
      <p:pic>
        <p:nvPicPr>
          <p:cNvPr id="2" name="Picture 1" descr="A blue background with white text&#10;&#10;AI-generated content may be incorrect.">
            <a:extLst>
              <a:ext uri="{FF2B5EF4-FFF2-40B4-BE49-F238E27FC236}">
                <a16:creationId xmlns:a16="http://schemas.microsoft.com/office/drawing/2014/main" id="{A87E7B44-F6E8-F766-042C-21047590A27A}"/>
              </a:ext>
            </a:extLst>
          </p:cNvPr>
          <p:cNvPicPr>
            <a:picLocks noChangeAspect="1"/>
          </p:cNvPicPr>
          <p:nvPr/>
        </p:nvPicPr>
        <p:blipFill>
          <a:blip r:embed="rId4"/>
          <a:srcRect l="24722" r="50255" b="85485"/>
          <a:stretch>
            <a:fillRect/>
          </a:stretch>
        </p:blipFill>
        <p:spPr>
          <a:xfrm>
            <a:off x="1" y="0"/>
            <a:ext cx="12192000" cy="963748"/>
          </a:xfrm>
          <a:prstGeom prst="rect">
            <a:avLst/>
          </a:prstGeom>
        </p:spPr>
      </p:pic>
      <p:sp>
        <p:nvSpPr>
          <p:cNvPr id="3" name="Rectangle 2">
            <a:extLst>
              <a:ext uri="{FF2B5EF4-FFF2-40B4-BE49-F238E27FC236}">
                <a16:creationId xmlns:a16="http://schemas.microsoft.com/office/drawing/2014/main" id="{FECA0A79-3C90-77EA-89B5-C9CDA4C334A7}"/>
              </a:ext>
            </a:extLst>
          </p:cNvPr>
          <p:cNvSpPr/>
          <p:nvPr/>
        </p:nvSpPr>
        <p:spPr>
          <a:xfrm>
            <a:off x="5071865" y="169625"/>
            <a:ext cx="1808631" cy="624497"/>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1"/>
              <a:t>Questionnaire</a:t>
            </a:r>
          </a:p>
        </p:txBody>
      </p:sp>
      <p:sp>
        <p:nvSpPr>
          <p:cNvPr id="4" name="TextBox 3">
            <a:extLst>
              <a:ext uri="{FF2B5EF4-FFF2-40B4-BE49-F238E27FC236}">
                <a16:creationId xmlns:a16="http://schemas.microsoft.com/office/drawing/2014/main" id="{147401BC-AB87-AD16-C516-2631A1349C0A}"/>
              </a:ext>
            </a:extLst>
          </p:cNvPr>
          <p:cNvSpPr txBox="1"/>
          <p:nvPr/>
        </p:nvSpPr>
        <p:spPr>
          <a:xfrm>
            <a:off x="4112187" y="1951672"/>
            <a:ext cx="3967625" cy="2308324"/>
          </a:xfrm>
          <a:prstGeom prst="rect">
            <a:avLst/>
          </a:prstGeom>
          <a:noFill/>
        </p:spPr>
        <p:txBody>
          <a:bodyPr wrap="none" rtlCol="0">
            <a:spAutoFit/>
          </a:bodyPr>
          <a:lstStyle/>
          <a:p>
            <a:r>
              <a:rPr lang="en-US" noProof="1"/>
              <a:t>Example questions:</a:t>
            </a:r>
          </a:p>
          <a:p>
            <a:r>
              <a:rPr lang="en-US" noProof="1"/>
              <a:t>How difficult was the AUD: 1-2-3-4-5</a:t>
            </a:r>
          </a:p>
          <a:p>
            <a:r>
              <a:rPr lang="en-US" noProof="1"/>
              <a:t>How difficult was the VIS: 1-2-3-4-5</a:t>
            </a:r>
          </a:p>
          <a:p>
            <a:r>
              <a:rPr lang="en-US" noProof="1"/>
              <a:t>Did you see any patterns? Yes or No</a:t>
            </a:r>
          </a:p>
          <a:p>
            <a:r>
              <a:rPr lang="en-US" noProof="1"/>
              <a:t>Explai your stategy: full sentence reply</a:t>
            </a:r>
          </a:p>
          <a:p>
            <a:endParaRPr lang="en-US" noProof="1"/>
          </a:p>
          <a:p>
            <a:r>
              <a:rPr lang="en-US" noProof="1"/>
              <a:t>Final screen:</a:t>
            </a:r>
          </a:p>
          <a:p>
            <a:r>
              <a:rPr lang="en-US" noProof="1"/>
              <a:t>Thank you!</a:t>
            </a:r>
          </a:p>
        </p:txBody>
      </p:sp>
    </p:spTree>
    <p:custDataLst>
      <p:tags r:id="rId1"/>
    </p:custDataLst>
    <p:extLst>
      <p:ext uri="{BB962C8B-B14F-4D97-AF65-F5344CB8AC3E}">
        <p14:creationId xmlns:p14="http://schemas.microsoft.com/office/powerpoint/2010/main" val="10133644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2|4.5|2.4|4.2|2.6|5.3|6.9|0.8|18.9|7.2"/>
</p:tagLst>
</file>

<file path=ppt/tags/tag2.xml><?xml version="1.0" encoding="utf-8"?>
<p:tagLst xmlns:a="http://schemas.openxmlformats.org/drawingml/2006/main" xmlns:r="http://schemas.openxmlformats.org/officeDocument/2006/relationships" xmlns:p="http://schemas.openxmlformats.org/presentationml/2006/main">
  <p:tag name="TIMING" val="|5.2|4.5|2.4|4.2|2.6|5.3|6.9|0.8|18.9|7.2"/>
</p:tagLst>
</file>

<file path=ppt/tags/tag3.xml><?xml version="1.0" encoding="utf-8"?>
<p:tagLst xmlns:a="http://schemas.openxmlformats.org/drawingml/2006/main" xmlns:r="http://schemas.openxmlformats.org/officeDocument/2006/relationships" xmlns:p="http://schemas.openxmlformats.org/presentationml/2006/main">
  <p:tag name="TIMING" val="|5.2|4.5|2.4|4.2|2.6|5.3|6.9|0.8|18.9|7.2"/>
</p:tagLst>
</file>

<file path=ppt/tags/tag4.xml><?xml version="1.0" encoding="utf-8"?>
<p:tagLst xmlns:a="http://schemas.openxmlformats.org/drawingml/2006/main" xmlns:r="http://schemas.openxmlformats.org/officeDocument/2006/relationships" xmlns:p="http://schemas.openxmlformats.org/presentationml/2006/main">
  <p:tag name="TIMING" val="|5.2|4.5|2.4|4.2|2.6|5.3|6.9|0.8|18.9|7.2"/>
</p:tagLst>
</file>

<file path=ppt/tags/tag5.xml><?xml version="1.0" encoding="utf-8"?>
<p:tagLst xmlns:a="http://schemas.openxmlformats.org/drawingml/2006/main" xmlns:r="http://schemas.openxmlformats.org/officeDocument/2006/relationships" xmlns:p="http://schemas.openxmlformats.org/presentationml/2006/main">
  <p:tag name="TIMING" val="|5.2|4.5|2.4|4.2|2.6|5.3|6.9|0.8|18.9|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852</Words>
  <Application>Microsoft Macintosh PowerPoint</Application>
  <PresentationFormat>Widescreen</PresentationFormat>
  <Paragraphs>110</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Aptos Display</vt:lpstr>
      <vt:lpstr>Arial</vt:lpstr>
      <vt:lpstr>Helvetica</vt:lpstr>
      <vt:lpstr>Open Sans ExtraBold</vt:lpstr>
      <vt:lpstr>Open Sans Light</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Linda Garami</dc:creator>
  <cp:lastModifiedBy>Linda Garami</cp:lastModifiedBy>
  <cp:revision>4</cp:revision>
  <dcterms:created xsi:type="dcterms:W3CDTF">2026-02-13T09:38:49Z</dcterms:created>
  <dcterms:modified xsi:type="dcterms:W3CDTF">2026-02-13T14:07:42Z</dcterms:modified>
</cp:coreProperties>
</file>